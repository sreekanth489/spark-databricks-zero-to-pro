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Unity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429EF5"/>
                </a:solidFill>
              </a:defRPr>
            </a:pPr>
            <a:r>
              <a:t>From Hive Metastore to Enterprise Data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EC5"/>
                </a:solidFill>
              </a:defRPr>
            </a:pPr>
            <a:r>
              <a:t>Metastore  ·  Before &amp; After  ·  3-Level Namespace  ·  Row Filters  ·  Column Masks  ·  Lineage  ·  Lakehouse Federation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06060"/>
                </a:solidFill>
              </a:defRPr>
            </a:pPr>
            <a:r>
              <a:t>Databricks Zero-to-Pro  |  Day 10 &amp; 11  |  Data Governance Module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60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EC5"/>
                </a:solidFill>
              </a:defRPr>
            </a:pPr>
            <a:r>
              <a:t>What we will cover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43000"/>
            <a:ext cx="5532120" cy="91440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2161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9EF5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16152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Why do we need a Metastore?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1848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</a:defRPr>
            </a:pPr>
            <a:r>
              <a:t>Concept: data files + metadata must be in sync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194560"/>
            <a:ext cx="5532120" cy="91440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2677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9EF5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67712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Apache Hive Metastore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7004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</a:defRPr>
            </a:pPr>
            <a:r>
              <a:t>The original — what it does and what it lacks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246120"/>
            <a:ext cx="5532120" cy="91440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33192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9EF5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19272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Why Unity Catalog?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2160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</a:defRPr>
            </a:pPr>
            <a:r>
              <a:t>The real problems HMS cannot solve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4297680"/>
            <a:ext cx="5532120" cy="91440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43708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9EF5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370832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Before &amp; After Unity Catalog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77316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</a:defRPr>
            </a:pPr>
            <a:r>
              <a:t>Architecture comparison — workspace isolation vs account-level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5349240"/>
            <a:ext cx="5532120" cy="91440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54223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9EF5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422392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3-Level Namespace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82472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</a:defRPr>
            </a:pPr>
            <a:r>
              <a:t>Metastore → Catalog → Schema → Table/View/Volume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1143000"/>
            <a:ext cx="5532120" cy="91440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53328" y="12161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9EF5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1216152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Databricks Lakehouse Governance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161848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</a:defRPr>
            </a:pPr>
            <a:r>
              <a:t>One governance model for data + AI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0" y="2194560"/>
            <a:ext cx="5532120" cy="91440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53328" y="22677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9EF5"/>
                </a:solidFill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2267712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Admin Roles Hierarchy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267004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</a:defRPr>
            </a:pPr>
            <a:r>
              <a:t>Account Admin → Metastore Admin → Workspace Admin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0" y="3246120"/>
            <a:ext cx="5532120" cy="91440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53328" y="33192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9EF5"/>
                </a:solidFill>
              </a:defRPr>
            </a:pPr>
            <a: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319272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Row Filters &amp; Column Masks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72160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</a:defRPr>
            </a:pPr>
            <a:r>
              <a:t>Native table-level security — replaces regional views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0" y="4297680"/>
            <a:ext cx="5532120" cy="91440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53328" y="43708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9EF5"/>
                </a:solidFill>
              </a:defRPr>
            </a:pPr>
            <a: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370832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Data Lineage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477316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</a:defRPr>
            </a:pPr>
            <a:r>
              <a:t>Automatic lineage from files to dashboards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0" y="5349240"/>
            <a:ext cx="5532120" cy="91440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53328" y="54223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9EF5"/>
                </a:solidFill>
              </a:defRPr>
            </a:pPr>
            <a: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5422392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Lakehouse Federation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582472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</a:defRPr>
            </a:pPr>
            <a:r>
              <a:t>Query Snowflake/MySQL/PostgreSQL live — no copy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What is a Metastore?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60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EC5"/>
                </a:solidFill>
              </a:defRPr>
            </a:pPr>
            <a:r>
              <a:t>A table = Data Files in cloud storage  +  Metadata in the Metastore — both must be in sync</a:t>
            </a:r>
          </a:p>
        </p:txBody>
      </p:sp>
      <p:pic>
        <p:nvPicPr>
          <p:cNvPr id="5" name="Picture 4" descr="metastore-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475488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537960"/>
            <a:ext cx="118259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60"/>
                </a:solidFill>
              </a:defRPr>
            </a:pPr>
            <a:r>
              <a:t>Diagram: Sreekanth Keerthipati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1887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9EF5"/>
                </a:solidFill>
              </a:defRPr>
            </a:pPr>
            <a:r>
              <a:t>Why does a Metastore exist?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6916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EC5"/>
                </a:solidFill>
              </a:defRPr>
            </a:pPr>
            <a:r>
              <a:t>When you store data in S3 / ADLS, you get files. But to run SQL,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57400"/>
            <a:ext cx="6400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</a:defRPr>
            </a:pPr>
          </a:p>
          <a:p>
            <a:pPr>
              <a:defRPr sz="1400">
                <a:solidFill>
                  <a:srgbClr val="B0BEC5"/>
                </a:solidFill>
              </a:defRPr>
            </a:pPr>
            <a:r>
              <a:t>→  WHERE is the file?   (s3://databricks/orders)</a:t>
            </a:r>
          </a:p>
          <a:p>
            <a:pPr>
              <a:defRPr sz="1400">
                <a:solidFill>
                  <a:srgbClr val="B0BEC5"/>
                </a:solidFill>
              </a:defRPr>
            </a:pPr>
            <a:r>
              <a:t>→  WHAT is the schema? (id INT, name STRING, amount DOUBLE)</a:t>
            </a:r>
          </a:p>
          <a:p>
            <a:pPr>
              <a:defRPr sz="1400">
                <a:solidFill>
                  <a:srgbClr val="B0BEC5"/>
                </a:solidFill>
              </a:defRPr>
            </a:pPr>
            <a:r>
              <a:t>→  WHAT format?        (Delta / Parquet / CSV)</a:t>
            </a:r>
          </a:p>
          <a:p>
            <a:pPr>
              <a:defRPr sz="1400">
                <a:solidFill>
                  <a:srgbClr val="B0BEC5"/>
                </a:solidFill>
              </a:defRPr>
            </a:pPr>
            <a:r>
              <a:t>→  WHO can access it?  (ACLs / Row Filters / Column Masks)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703320"/>
            <a:ext cx="11460175" cy="25400"/>
          </a:xfrm>
          <a:prstGeom prst="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37947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</a:defRPr>
            </a:pPr>
            <a:r>
              <a:t>⚠  If Metastore &amp; Storage are OUT OF SYNC: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4206240"/>
            <a:ext cx="6400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EC5"/>
                </a:solidFill>
              </a:defRPr>
            </a:pPr>
          </a:p>
          <a:p>
            <a:pPr>
              <a:defRPr sz="1300">
                <a:solidFill>
                  <a:srgbClr val="FF9800"/>
                </a:solidFill>
              </a:defRPr>
            </a:pPr>
            <a:r>
              <a:t>✗  Files deleted from S3, metastore not updated  →  query fails</a:t>
            </a:r>
          </a:p>
          <a:p>
            <a:pPr>
              <a:defRPr sz="1300">
                <a:solidFill>
                  <a:srgbClr val="FF9800"/>
                </a:solidFill>
              </a:defRPr>
            </a:pPr>
            <a:r>
              <a:t>✗  Files added to S3 without metastore update  →  data invisible to SQL</a:t>
            </a:r>
          </a:p>
          <a:p>
            <a:pPr>
              <a:defRPr sz="1300">
                <a:solidFill>
                  <a:srgbClr val="FF9800"/>
                </a:solidFill>
              </a:defRPr>
            </a:pPr>
            <a:r>
              <a:t>✗  Table dropped, files left in S3  →  ghost files wasting storage cost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Apache Hive Metastore (HMS)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60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EC5"/>
                </a:solidFill>
              </a:defRPr>
            </a:pPr>
            <a:r>
              <a:t>The original open-source metastore — used by Databricks before Unity Catalog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43000"/>
            <a:ext cx="5669280" cy="530352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</a:defRPr>
            </a:pPr>
            <a:r>
              <a:t>✓  What HMS provides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916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</a:defRPr>
            </a:pPr>
          </a:p>
          <a:p>
            <a:pPr>
              <a:defRPr sz="1400">
                <a:solidFill>
                  <a:srgbClr val="B0BEC5"/>
                </a:solidFill>
              </a:defRPr>
            </a:pPr>
            <a:r>
              <a:t>•  Stores table DDL, schema, location, partitions, stats</a:t>
            </a:r>
          </a:p>
          <a:p>
            <a:pPr>
              <a:defRPr sz="1400">
                <a:solidFill>
                  <a:srgbClr val="B0BEC5"/>
                </a:solidFill>
              </a:defRPr>
            </a:pPr>
            <a:r>
              <a:t>•  2-level namespace:  schema.table</a:t>
            </a:r>
          </a:p>
          <a:p>
            <a:pPr>
              <a:defRPr sz="1400">
                <a:solidFill>
                  <a:srgbClr val="B0BEC5"/>
                </a:solidFill>
              </a:defRPr>
            </a:pPr>
            <a:r>
              <a:t>•  Open-source — compatible with Hive, Spark, Trino, Presto</a:t>
            </a:r>
          </a:p>
          <a:p>
            <a:pPr>
              <a:defRPr sz="1400">
                <a:solidFill>
                  <a:srgbClr val="B0BEC5"/>
                </a:solidFill>
              </a:defRPr>
            </a:pPr>
            <a:r>
              <a:t>•  Backend: MySQL / PostgreSQL / Derby relational DB</a:t>
            </a:r>
          </a:p>
          <a:p>
            <a:pPr>
              <a:defRPr sz="1400">
                <a:solidFill>
                  <a:srgbClr val="B0BEC5"/>
                </a:solidFill>
              </a:defRPr>
            </a:pPr>
            <a:r>
              <a:t>•  Supports tables, views, and functions</a:t>
            </a:r>
          </a:p>
          <a:p>
            <a:pPr>
              <a:defRPr sz="1400">
                <a:solidFill>
                  <a:srgbClr val="B0BEC5"/>
                </a:solidFill>
              </a:defRPr>
            </a:pPr>
            <a:r>
              <a:t>•  GRANT / REVOKE on tables and databases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669280" cy="530352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E8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3E3E"/>
                </a:solidFill>
              </a:defRPr>
            </a:pPr>
            <a:r>
              <a:t>✗  What HMS cannot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</a:defRPr>
            </a:pPr>
          </a:p>
          <a:p>
            <a:pPr>
              <a:defRPr sz="1400">
                <a:solidFill>
                  <a:srgbClr val="B0BEC5"/>
                </a:solidFill>
              </a:defRPr>
            </a:pPr>
            <a:r>
              <a:t>•  Workspace-isolated — no cross-workspace sharing</a:t>
            </a:r>
          </a:p>
          <a:p>
            <a:pPr>
              <a:defRPr sz="1400">
                <a:solidFill>
                  <a:srgbClr val="B0BEC5"/>
                </a:solidFill>
              </a:defRPr>
            </a:pPr>
            <a:r>
              <a:t>•  Users / groups must be re-created in every workspace</a:t>
            </a:r>
          </a:p>
          <a:p>
            <a:pPr>
              <a:defRPr sz="1400">
                <a:solidFill>
                  <a:srgbClr val="B0BEC5"/>
                </a:solidFill>
              </a:defRPr>
            </a:pPr>
            <a:r>
              <a:t>•  No governance for files (S3 IAM = all-or-nothing)</a:t>
            </a:r>
          </a:p>
          <a:p>
            <a:pPr>
              <a:defRPr sz="1400">
                <a:solidFill>
                  <a:srgbClr val="B0BEC5"/>
                </a:solidFill>
              </a:defRPr>
            </a:pPr>
            <a:r>
              <a:t>•  No data lineage — impossible to trace data origin</a:t>
            </a:r>
          </a:p>
          <a:p>
            <a:pPr>
              <a:defRPr sz="1400">
                <a:solidFill>
                  <a:srgbClr val="B0BEC5"/>
                </a:solidFill>
              </a:defRPr>
            </a:pPr>
            <a:r>
              <a:t>•  No audit logs — no trail of who accessed what</a:t>
            </a:r>
          </a:p>
          <a:p>
            <a:pPr>
              <a:defRPr sz="1400">
                <a:solidFill>
                  <a:srgbClr val="B0BEC5"/>
                </a:solidFill>
              </a:defRPr>
            </a:pPr>
            <a:r>
              <a:t>•  No governance for ML models or AI assets</a:t>
            </a:r>
          </a:p>
          <a:p>
            <a:pPr>
              <a:defRPr sz="1400">
                <a:solidFill>
                  <a:srgbClr val="B0BEC5"/>
                </a:solidFill>
              </a:defRPr>
            </a:pPr>
            <a:r>
              <a:t>•  Regional views required for row-level filtering</a:t>
            </a:r>
          </a:p>
          <a:p>
            <a:pPr>
              <a:defRPr sz="1400">
                <a:solidFill>
                  <a:srgbClr val="B0BEC5"/>
                </a:solidFill>
              </a:defRPr>
            </a:pPr>
            <a:r>
              <a:t>•  Column masking only via complex dynamic views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Why Unity Catalog?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60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EC5"/>
                </a:solidFill>
              </a:defRPr>
            </a:pPr>
            <a:r>
              <a:t>The real-world problems that Hive Metastore could not solve — and Unity Catalog does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188720"/>
            <a:ext cx="3749039" cy="219456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E8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98448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3E3E"/>
                </a:solidFill>
              </a:defRPr>
            </a:pPr>
            <a:r>
              <a:t>🏝  Workspace Islands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719072"/>
            <a:ext cx="347471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</a:defRPr>
            </a:pPr>
            <a:r>
              <a:t>Each workspace had its own HMS with separate users, groups, and ACLs.</a:t>
            </a:r>
            <a:br/>
            <a:r>
              <a:t>Moving between workspaces meant re-creating everything from scratch.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79" y="1188720"/>
            <a:ext cx="3749039" cy="219456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E8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39" y="1298448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3E3E"/>
                </a:solidFill>
              </a:defRPr>
            </a:pPr>
            <a:r>
              <a:t>🔁  Duplicate User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39" y="1719072"/>
            <a:ext cx="347471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</a:defRPr>
            </a:pPr>
            <a:r>
              <a:t>A team of 50 people across 5 workspaces = 250 user entries to maintain.</a:t>
            </a:r>
            <a:br/>
            <a:r>
              <a:t>When someone left, you had to remove them from every workspace manually.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8" y="1188720"/>
            <a:ext cx="3749039" cy="219456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E8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38" y="1298448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3E3E"/>
                </a:solidFill>
              </a:defRPr>
            </a:pPr>
            <a:r>
              <a:t>🚫  No Cross-Workspace Sharing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38" y="1719072"/>
            <a:ext cx="347471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</a:defRPr>
            </a:pPr>
            <a:r>
              <a:t>To share a table between Dev and Prod, you had to copy the data.</a:t>
            </a:r>
            <a:br/>
            <a:r>
              <a:t>Two copies = double storage cost + always slightly stale.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" y="3520440"/>
            <a:ext cx="3749039" cy="219456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E8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630168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3E3E"/>
                </a:solidFill>
              </a:defRPr>
            </a:pPr>
            <a:r>
              <a:t>📂  Files Had No Governance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050792"/>
            <a:ext cx="347471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</a:defRPr>
            </a:pPr>
            <a:r>
              <a:t>Files in S3 / ADLS were protected only by IAM roles — all or nothing.</a:t>
            </a:r>
            <a:br/>
            <a:r>
              <a:t>UC Volumes bring the same GRANT/REVOKE model to files.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9079" y="3520440"/>
            <a:ext cx="3749039" cy="219456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E8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39" y="3630168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3E3E"/>
                </a:solidFill>
              </a:defRPr>
            </a:pPr>
            <a:r>
              <a:t>🕵️  No Audit Trail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39" y="4050792"/>
            <a:ext cx="347471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</a:defRPr>
            </a:pPr>
            <a:r>
              <a:t>If someone accessed sensitive customer data at 2am, you had no idea.</a:t>
            </a:r>
            <a:br/>
            <a:r>
              <a:t>UC logs every access to system.access.audit — queryable with SQL.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8" y="3520440"/>
            <a:ext cx="3749039" cy="219456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E8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38" y="3630168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3E3E"/>
                </a:solidFill>
              </a:defRPr>
            </a:pPr>
            <a:r>
              <a:t>🔗  No Data Lineage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38" y="4050792"/>
            <a:ext cx="347471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</a:defRPr>
            </a:pPr>
            <a:r>
              <a:t>Teams manually maintained spreadsheets documenting data flows.</a:t>
            </a:r>
            <a:br/>
            <a:r>
              <a:t>UC captures lineage automatically — every query, job,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Before &amp; After Unity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60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EC5"/>
                </a:solidFill>
              </a:defRPr>
            </a:pPr>
            <a:r>
              <a:t>Workspace-isolated Hive Metastores  →  Account-level shared governance</a:t>
            </a:r>
          </a:p>
        </p:txBody>
      </p:sp>
      <p:pic>
        <p:nvPicPr>
          <p:cNvPr id="5" name="Picture 4" descr="uc-before-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4712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537960"/>
            <a:ext cx="118259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60"/>
                </a:solidFill>
              </a:defRPr>
            </a:pPr>
            <a:r>
              <a:t>Credit: Databricks, Inc.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Hive Metastore vs Unity Catalog — Feature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97280"/>
            <a:ext cx="2560320" cy="411480"/>
          </a:xfrm>
          <a:prstGeom prst="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1430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Capability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1097280"/>
            <a:ext cx="4114800" cy="411480"/>
          </a:xfrm>
          <a:prstGeom prst="rect">
            <a:avLst/>
          </a:prstGeom>
          <a:solidFill>
            <a:srgbClr val="7F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07792" y="114300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Hive Metastore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1097280"/>
            <a:ext cx="502920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14032" y="11430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Unity Catalog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536192"/>
            <a:ext cx="2560320" cy="438912"/>
          </a:xfrm>
          <a:prstGeom prst="rect">
            <a:avLst/>
          </a:prstGeom>
          <a:solidFill>
            <a:srgbClr val="1E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60020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Scope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536192"/>
            <a:ext cx="4114800" cy="438912"/>
          </a:xfrm>
          <a:prstGeom prst="rect">
            <a:avLst/>
          </a:prstGeom>
          <a:solidFill>
            <a:srgbClr val="1E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600200"/>
            <a:ext cx="3977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3E3E"/>
                </a:solidFill>
              </a:defRPr>
            </a:pPr>
            <a:r>
              <a:t>Per workspace (isolated)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0" y="1536192"/>
            <a:ext cx="5029200" cy="438912"/>
          </a:xfrm>
          <a:prstGeom prst="rect">
            <a:avLst/>
          </a:prstGeom>
          <a:solidFill>
            <a:srgbClr val="1E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1600200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CAF50"/>
                </a:solidFill>
              </a:defRPr>
            </a:pPr>
            <a:r>
              <a:t>Account-level (all workspaces)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2011680"/>
            <a:ext cx="2560320" cy="438912"/>
          </a:xfrm>
          <a:prstGeom prst="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07568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Namespace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2011680"/>
            <a:ext cx="4114800" cy="438912"/>
          </a:xfrm>
          <a:prstGeom prst="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2075688"/>
            <a:ext cx="3977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3E3E"/>
                </a:solidFill>
              </a:defRPr>
            </a:pPr>
            <a:r>
              <a:t>schema.table  (2-level)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2011680"/>
            <a:ext cx="5029200" cy="438912"/>
          </a:xfrm>
          <a:prstGeom prst="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2075688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CAF50"/>
                </a:solidFill>
              </a:defRPr>
            </a:pPr>
            <a:r>
              <a:t>catalog.schema.table  (3-level)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487168"/>
            <a:ext cx="2560320" cy="438912"/>
          </a:xfrm>
          <a:prstGeom prst="rect">
            <a:avLst/>
          </a:prstGeom>
          <a:solidFill>
            <a:srgbClr val="1E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2551176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User management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2487168"/>
            <a:ext cx="4114800" cy="438912"/>
          </a:xfrm>
          <a:prstGeom prst="rect">
            <a:avLst/>
          </a:prstGeom>
          <a:solidFill>
            <a:srgbClr val="1E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0" y="2551176"/>
            <a:ext cx="3977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3E3E"/>
                </a:solidFill>
              </a:defRPr>
            </a:pPr>
            <a:r>
              <a:t>Duplicated per workspace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2487168"/>
            <a:ext cx="5029200" cy="438912"/>
          </a:xfrm>
          <a:prstGeom prst="rect">
            <a:avLst/>
          </a:prstGeom>
          <a:solidFill>
            <a:srgbClr val="1E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2551176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CAF50"/>
                </a:solidFill>
              </a:defRPr>
            </a:pPr>
            <a:r>
              <a:t>Single identity, assigned to workspaces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962656"/>
            <a:ext cx="2560320" cy="438912"/>
          </a:xfrm>
          <a:prstGeom prst="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302666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File governance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40" y="2962656"/>
            <a:ext cx="4114800" cy="438912"/>
          </a:xfrm>
          <a:prstGeom prst="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6080" y="3026664"/>
            <a:ext cx="3977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3E3E"/>
                </a:solidFill>
              </a:defRPr>
            </a:pPr>
            <a:r>
              <a:t>None (IAM = all or nothing)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2962656"/>
            <a:ext cx="5029200" cy="438912"/>
          </a:xfrm>
          <a:prstGeom prst="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0" y="3026664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CAF50"/>
                </a:solidFill>
              </a:defRPr>
            </a:pPr>
            <a:r>
              <a:t>Volumes with GRANT/REVOKE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3438144"/>
            <a:ext cx="2560320" cy="438912"/>
          </a:xfrm>
          <a:prstGeom prst="rect">
            <a:avLst/>
          </a:prstGeom>
          <a:solidFill>
            <a:srgbClr val="1E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350215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Row-level security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3438144"/>
            <a:ext cx="4114800" cy="438912"/>
          </a:xfrm>
          <a:prstGeom prst="rect">
            <a:avLst/>
          </a:prstGeom>
          <a:solidFill>
            <a:srgbClr val="1E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26080" y="3502152"/>
            <a:ext cx="3977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3E3E"/>
                </a:solidFill>
              </a:defRPr>
            </a:pPr>
            <a:r>
              <a:t>Dynamic views only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3438144"/>
            <a:ext cx="5029200" cy="438912"/>
          </a:xfrm>
          <a:prstGeom prst="rect">
            <a:avLst/>
          </a:prstGeom>
          <a:solidFill>
            <a:srgbClr val="1E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0" y="3502152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CAF50"/>
                </a:solidFill>
              </a:defRPr>
            </a:pPr>
            <a:r>
              <a:t>Native Row Filters on table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3913632"/>
            <a:ext cx="2560320" cy="438912"/>
          </a:xfrm>
          <a:prstGeom prst="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397764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Column masking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34640" y="3913632"/>
            <a:ext cx="4114800" cy="438912"/>
          </a:xfrm>
          <a:prstGeom prst="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26080" y="3977640"/>
            <a:ext cx="3977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3E3E"/>
                </a:solidFill>
              </a:defRPr>
            </a:pPr>
            <a:r>
              <a:t>Dynamic views only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40880" y="3913632"/>
            <a:ext cx="5029200" cy="438912"/>
          </a:xfrm>
          <a:prstGeom prst="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0" y="3977640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CAF50"/>
                </a:solidFill>
              </a:defRPr>
            </a:pPr>
            <a:r>
              <a:t>Native Column Masks on column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" y="4389120"/>
            <a:ext cx="2560320" cy="438912"/>
          </a:xfrm>
          <a:prstGeom prst="rect">
            <a:avLst/>
          </a:prstGeom>
          <a:solidFill>
            <a:srgbClr val="1E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445312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Data lineage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34640" y="4389120"/>
            <a:ext cx="4114800" cy="438912"/>
          </a:xfrm>
          <a:prstGeom prst="rect">
            <a:avLst/>
          </a:prstGeom>
          <a:solidFill>
            <a:srgbClr val="1E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26080" y="4453128"/>
            <a:ext cx="3977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3E3E"/>
                </a:solidFill>
              </a:defRPr>
            </a:pPr>
            <a:r>
              <a:t>None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40880" y="4389120"/>
            <a:ext cx="5029200" cy="438912"/>
          </a:xfrm>
          <a:prstGeom prst="rect">
            <a:avLst/>
          </a:prstGeom>
          <a:solidFill>
            <a:srgbClr val="1E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0" y="4453128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CAF50"/>
                </a:solidFill>
              </a:defRPr>
            </a:pPr>
            <a:r>
              <a:t>Automatic — tables, jobs, dashboards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" y="4864608"/>
            <a:ext cx="2560320" cy="438912"/>
          </a:xfrm>
          <a:prstGeom prst="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928616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Audit logging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834640" y="4864608"/>
            <a:ext cx="4114800" cy="438912"/>
          </a:xfrm>
          <a:prstGeom prst="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926080" y="4928616"/>
            <a:ext cx="3977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3E3E"/>
                </a:solidFill>
              </a:defRPr>
            </a:pPr>
            <a:r>
              <a:t>None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40880" y="4864608"/>
            <a:ext cx="5029200" cy="438912"/>
          </a:xfrm>
          <a:prstGeom prst="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32320" y="4928616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CAF50"/>
                </a:solidFill>
              </a:defRPr>
            </a:pPr>
            <a:r>
              <a:t>Full — system.access.audit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340096"/>
            <a:ext cx="2560320" cy="438912"/>
          </a:xfrm>
          <a:prstGeom prst="rect">
            <a:avLst/>
          </a:prstGeom>
          <a:solidFill>
            <a:srgbClr val="1E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" y="540410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ML model governance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834640" y="5340096"/>
            <a:ext cx="4114800" cy="438912"/>
          </a:xfrm>
          <a:prstGeom prst="rect">
            <a:avLst/>
          </a:prstGeom>
          <a:solidFill>
            <a:srgbClr val="1E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926080" y="5404104"/>
            <a:ext cx="3977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3E3E"/>
                </a:solidFill>
              </a:defRPr>
            </a:pPr>
            <a:r>
              <a:t>None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40880" y="5340096"/>
            <a:ext cx="5029200" cy="438912"/>
          </a:xfrm>
          <a:prstGeom prst="rect">
            <a:avLst/>
          </a:prstGeom>
          <a:solidFill>
            <a:srgbClr val="1E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32320" y="5404104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CAF50"/>
                </a:solidFill>
              </a:defRPr>
            </a:pPr>
            <a:r>
              <a:t>Models as governed objects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2880" y="5815584"/>
            <a:ext cx="2560320" cy="438912"/>
          </a:xfrm>
          <a:prstGeom prst="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4320" y="587959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Cross-workspace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34640" y="5815584"/>
            <a:ext cx="4114800" cy="438912"/>
          </a:xfrm>
          <a:prstGeom prst="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926080" y="5879592"/>
            <a:ext cx="3977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3E3E"/>
                </a:solidFill>
              </a:defRPr>
            </a:pPr>
            <a:r>
              <a:t>Data copy required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40880" y="5815584"/>
            <a:ext cx="5029200" cy="438912"/>
          </a:xfrm>
          <a:prstGeom prst="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132320" y="5879592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CAF50"/>
                </a:solidFill>
              </a:defRPr>
            </a:pPr>
            <a:r>
              <a:t>Native shared metastore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Unity Catalog — 3-Level Namespace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60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EC5"/>
                </a:solidFill>
              </a:defRPr>
            </a:pPr>
            <a:r>
              <a:t>Metastore → Catalog → Schema (Database) → Table / View / Volume / Function</a:t>
            </a:r>
          </a:p>
        </p:txBody>
      </p:sp>
      <p:pic>
        <p:nvPicPr>
          <p:cNvPr id="5" name="Picture 4" descr="uc-three-level-name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85800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537960"/>
            <a:ext cx="118259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60"/>
                </a:solidFill>
              </a:defRPr>
            </a:pPr>
            <a:r>
              <a:t>Credit: Databricks,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188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9EF5"/>
                </a:solidFill>
              </a:defRPr>
            </a:pPr>
            <a:r>
              <a:t>What changed?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3E3E"/>
                </a:solidFill>
              </a:defRPr>
            </a:pPr>
            <a:r>
              <a:t>Hive Metastore:  schema.table  (2 levels)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057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AF50"/>
                </a:solidFill>
              </a:defRPr>
            </a:pPr>
            <a:r>
              <a:t>Unity Catalog:   catalog.schema.table  (3 levels)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14600"/>
            <a:ext cx="11460175" cy="25400"/>
          </a:xfrm>
          <a:prstGeom prst="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26517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Why a Catalog level?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3063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</a:defRPr>
            </a:pPr>
          </a:p>
          <a:p>
            <a:pPr>
              <a:defRPr sz="1400">
                <a:solidFill>
                  <a:srgbClr val="B0BEC5"/>
                </a:solidFill>
              </a:defRPr>
            </a:pPr>
            <a:r>
              <a:t>•  Separate environments:  dev / staging / prod</a:t>
            </a:r>
          </a:p>
          <a:p>
            <a:pPr>
              <a:defRPr sz="1400">
                <a:solidFill>
                  <a:srgbClr val="B0BEC5"/>
                </a:solidFill>
              </a:defRPr>
            </a:pPr>
            <a:r>
              <a:t>•  Separate business units:  finance / marketing / hr</a:t>
            </a:r>
          </a:p>
          <a:p>
            <a:pPr>
              <a:defRPr sz="1400">
                <a:solidFill>
                  <a:srgbClr val="B0BEC5"/>
                </a:solidFill>
              </a:defRPr>
            </a:pPr>
            <a:r>
              <a:t>•  Separate projects or teams</a:t>
            </a:r>
          </a:p>
          <a:p>
            <a:pPr>
              <a:defRPr sz="1400">
                <a:solidFill>
                  <a:srgbClr val="B0BEC5"/>
                </a:solidFill>
              </a:defRPr>
            </a:pPr>
            <a:r>
              <a:t>•  Different storage locations per catalog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846320"/>
            <a:ext cx="11460175" cy="25400"/>
          </a:xfrm>
          <a:prstGeom prst="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</a:defRPr>
            </a:pPr>
            <a:r>
              <a:t>Also under Metastore: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5349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EC5"/>
                </a:solidFill>
              </a:defRPr>
            </a:pPr>
          </a:p>
          <a:p>
            <a:pPr>
              <a:defRPr sz="1300">
                <a:solidFill>
                  <a:srgbClr val="B0BEC5"/>
                </a:solidFill>
              </a:defRPr>
            </a:pPr>
            <a:r>
              <a:t>•  Storage Credential  (cloud auth)</a:t>
            </a:r>
          </a:p>
          <a:p>
            <a:pPr>
              <a:defRPr sz="1300">
                <a:solidFill>
                  <a:srgbClr val="B0BEC5"/>
                </a:solidFill>
              </a:defRPr>
            </a:pPr>
            <a:r>
              <a:t>•  External Location   (S3/ADLS path)</a:t>
            </a:r>
          </a:p>
          <a:p>
            <a:pPr>
              <a:defRPr sz="1300">
                <a:solidFill>
                  <a:srgbClr val="B0BEC5"/>
                </a:solidFill>
              </a:defRPr>
            </a:pPr>
            <a:r>
              <a:t>•  Share / Recipient   (Delta Sharing)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Databricks Lakehouse Unifies Data &amp; AI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60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EC5"/>
                </a:solidFill>
              </a:defRPr>
            </a:pPr>
            <a:r>
              <a:t>Unity Catalog is the single governance layer — above: compute  |  below: storage &amp; federation</a:t>
            </a:r>
          </a:p>
        </p:txBody>
      </p:sp>
      <p:pic>
        <p:nvPicPr>
          <p:cNvPr id="5" name="Picture 4" descr="databricks-lakehouse-unity-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537960"/>
            <a:ext cx="118259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60"/>
                </a:solidFill>
              </a:defRPr>
            </a:pPr>
            <a:r>
              <a:t>Credit: Databricks, Inc.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Databricks Account Roles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60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EC5"/>
                </a:solidFill>
              </a:defRPr>
            </a:pPr>
            <a:r>
              <a:t>Account Admin creates metastores · Metastore Admin governs data · Workspace Admin manages compute</a:t>
            </a:r>
          </a:p>
        </p:txBody>
      </p:sp>
      <p:pic>
        <p:nvPicPr>
          <p:cNvPr id="5" name="Picture 4" descr="databricks-roles-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13232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537960"/>
            <a:ext cx="118259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60"/>
                </a:solidFill>
              </a:defRPr>
            </a:pPr>
            <a:r>
              <a:t>Credit: Databricks,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18872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3E3E"/>
                </a:solidFill>
              </a:defRPr>
            </a:pPr>
            <a:r>
              <a:t>Account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57276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</a:defRPr>
            </a:pPr>
          </a:p>
          <a:p>
            <a:pPr>
              <a:defRPr sz="1200">
                <a:solidFill>
                  <a:srgbClr val="B0BEC5"/>
                </a:solidFill>
              </a:defRPr>
            </a:pPr>
            <a:r>
              <a:t>•  Enable Unity Catalog, create metastores</a:t>
            </a:r>
          </a:p>
          <a:p>
            <a:pPr>
              <a:defRPr sz="1200">
                <a:solidFill>
                  <a:srgbClr val="B0BEC5"/>
                </a:solidFill>
              </a:defRPr>
            </a:pPr>
            <a:r>
              <a:t>•  Create storage credentials</a:t>
            </a:r>
          </a:p>
          <a:p>
            <a:pPr>
              <a:defRPr sz="1200">
                <a:solidFill>
                  <a:srgbClr val="B0BEC5"/>
                </a:solidFill>
              </a:defRPr>
            </a:pPr>
            <a:r>
              <a:t>•  Manage identities, integrate with Azure AD</a:t>
            </a:r>
          </a:p>
          <a:p>
            <a:pPr>
              <a:defRPr sz="1200">
                <a:solidFill>
                  <a:srgbClr val="B0BEC5"/>
                </a:solidFill>
              </a:defRPr>
            </a:pPr>
            <a:r>
              <a:t>•  Create and manage workspaces</a:t>
            </a:r>
          </a:p>
          <a:p>
            <a:pPr>
              <a:defRPr sz="1200">
                <a:solidFill>
                  <a:srgbClr val="B0BEC5"/>
                </a:solidFill>
              </a:defRPr>
            </a:pPr>
            <a:r>
              <a:t>•  Recommended: Platform Ops / Central Gov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317296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9800"/>
                </a:solidFill>
              </a:defRPr>
            </a:pPr>
            <a:r>
              <a:t>Metastore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3557016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</a:defRPr>
            </a:pPr>
          </a:p>
          <a:p>
            <a:pPr>
              <a:defRPr sz="1200">
                <a:solidFill>
                  <a:srgbClr val="B0BEC5"/>
                </a:solidFill>
              </a:defRPr>
            </a:pPr>
            <a:r>
              <a:t>•  Create / manage catalogs</a:t>
            </a:r>
          </a:p>
          <a:p>
            <a:pPr>
              <a:defRPr sz="1200">
                <a:solidFill>
                  <a:srgbClr val="B0BEC5"/>
                </a:solidFill>
              </a:defRPr>
            </a:pPr>
            <a:r>
              <a:t>•  Grant privileges on any object</a:t>
            </a:r>
          </a:p>
          <a:p>
            <a:pPr>
              <a:defRPr sz="1200">
                <a:solidFill>
                  <a:srgbClr val="B0BEC5"/>
                </a:solidFill>
              </a:defRPr>
            </a:pPr>
            <a:r>
              <a:t>•  Create storage credentials &amp; external locations</a:t>
            </a:r>
          </a:p>
          <a:p>
            <a:pPr>
              <a:defRPr sz="1200">
                <a:solidFill>
                  <a:srgbClr val="B0BEC5"/>
                </a:solidFill>
              </a:defRPr>
            </a:pPr>
            <a:r>
              <a:t>•  Transfer ownership of any object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882896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29EF5"/>
                </a:solidFill>
              </a:defRPr>
            </a:pPr>
            <a:r>
              <a:t>Workspace 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5266944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</a:defRPr>
            </a:pPr>
          </a:p>
          <a:p>
            <a:pPr>
              <a:defRPr sz="1200">
                <a:solidFill>
                  <a:srgbClr val="B0BEC5"/>
                </a:solidFill>
              </a:defRPr>
            </a:pPr>
            <a:r>
              <a:t>•  Manage workspace users and groups</a:t>
            </a:r>
          </a:p>
          <a:p>
            <a:pPr>
              <a:defRPr sz="1200">
                <a:solidFill>
                  <a:srgbClr val="B0BEC5"/>
                </a:solidFill>
              </a:defRPr>
            </a:pPr>
            <a:r>
              <a:t>•  Manage clusters, jobs, notebooks</a:t>
            </a:r>
          </a:p>
          <a:p>
            <a:pPr>
              <a:defRPr sz="1200">
                <a:solidFill>
                  <a:srgbClr val="B0BEC5"/>
                </a:solidFill>
              </a:defRPr>
            </a:pPr>
            <a:r>
              <a:t>•  Cannot create metastores or storage creds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Row Filters &amp; Column Masks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60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EC5"/>
                </a:solidFill>
              </a:defRPr>
            </a:pPr>
            <a:r>
              <a:t>Native table-level security — replaces the 'create a view per region'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143000"/>
            <a:ext cx="5669280" cy="530352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E8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344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3E3E"/>
                </a:solidFill>
              </a:defRPr>
            </a:pPr>
            <a:r>
              <a:t>✗  OLD: Regional Views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73736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EC5"/>
                </a:solidFill>
              </a:defRPr>
            </a:pPr>
          </a:p>
          <a:p>
            <a:pPr>
              <a:defRPr sz="1300">
                <a:solidFill>
                  <a:srgbClr val="B0BEC5"/>
                </a:solidFill>
              </a:defRPr>
            </a:pPr>
            <a:r>
              <a:t>CREATE VIEW apac_employees AS SELECT * WHERE region='APAC'</a:t>
            </a:r>
          </a:p>
          <a:p>
            <a:pPr>
              <a:defRPr sz="1300">
                <a:solidFill>
                  <a:srgbClr val="B0BEC5"/>
                </a:solidFill>
              </a:defRPr>
            </a:pPr>
            <a:r>
              <a:t>CREATE VIEW emea_employees AS SELECT * WHERE region='EMEA'</a:t>
            </a:r>
          </a:p>
          <a:p>
            <a:pPr>
              <a:defRPr sz="1300">
                <a:solidFill>
                  <a:srgbClr val="B0BEC5"/>
                </a:solidFill>
              </a:defRPr>
            </a:pPr>
            <a:r>
              <a:t>CREATE VIEW amer_employees AS SELECT * WHERE region='AMER'</a:t>
            </a:r>
          </a:p>
          <a:p>
            <a:pPr>
              <a:defRPr sz="1300">
                <a:solidFill>
                  <a:srgbClr val="B0BEC5"/>
                </a:solidFill>
              </a:defRPr>
            </a:pPr>
          </a:p>
          <a:p>
            <a:pPr>
              <a:defRPr sz="1300">
                <a:solidFill>
                  <a:srgbClr val="E83E3E"/>
                </a:solidFill>
              </a:defRPr>
            </a:pPr>
            <a:r>
              <a:t>Problems:</a:t>
            </a:r>
          </a:p>
          <a:p>
            <a:pPr>
              <a:defRPr sz="1200">
                <a:solidFill>
                  <a:srgbClr val="E83E3E"/>
                </a:solidFill>
              </a:defRPr>
            </a:pPr>
            <a:r>
              <a:t>  • N regions = N views to maintain</a:t>
            </a:r>
          </a:p>
          <a:p>
            <a:pPr>
              <a:defRPr sz="1200">
                <a:solidFill>
                  <a:srgbClr val="E83E3E"/>
                </a:solidFill>
              </a:defRPr>
            </a:pPr>
            <a:r>
              <a:t>  • Users must know WHICH view to query</a:t>
            </a:r>
          </a:p>
          <a:p>
            <a:pPr>
              <a:defRPr sz="1200">
                <a:solidFill>
                  <a:srgbClr val="E83E3E"/>
                </a:solidFill>
              </a:defRPr>
            </a:pPr>
            <a:r>
              <a:t>  • View can be bypassed if user has TABLE access</a:t>
            </a:r>
          </a:p>
          <a:p>
            <a:pPr>
              <a:defRPr sz="1200">
                <a:solidFill>
                  <a:srgbClr val="E83E3E"/>
                </a:solidFill>
              </a:defRPr>
            </a:pPr>
            <a:r>
              <a:t>  • Column masks require ANOTHER set of views</a:t>
            </a:r>
          </a:p>
          <a:p>
            <a:pPr>
              <a:defRPr sz="1200">
                <a:solidFill>
                  <a:srgbClr val="E83E3E"/>
                </a:solidFill>
              </a:defRPr>
            </a:pPr>
            <a:r>
              <a:t>  • New region added → new view required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669280" cy="530352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CAF50"/>
                </a:solidFill>
              </a:defRPr>
            </a:pPr>
            <a:r>
              <a:t>✓  NEW: Native Row Filters + Column Masks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</a:defRPr>
            </a:pPr>
            <a:r>
              <a:t>-- Create row filter function (ONCE)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9339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CREATE FUNCTION region_filter(region STRING)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494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RETURNS BOOLEAN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0545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RETURN is_account_group_member('admins')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6148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    OR is_account_group_member(lower(region));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1752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00800" y="327355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</a:defRPr>
            </a:pPr>
            <a:r>
              <a:t>-- Attach to TABLE (ONCE)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52958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ALTER TABLE employees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8561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  SET ROW FILTER region_filter ON (region);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04164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400800" y="429768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</a:defRPr>
            </a:pPr>
            <a:r>
              <a:t>-- Create column mask (ONCE per column)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55371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ALTER TABLE employees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80974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  ALTER COLUMN salary SET MASK mask_salary;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06577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400800" y="532180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</a:defRPr>
            </a:pPr>
            <a:r>
              <a:t>-- Everyone queries the TABLE directly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57784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CAF50"/>
                </a:solidFill>
              </a:defRPr>
            </a:pPr>
            <a:r>
              <a:t>SELECT * FROM employees;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3387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</a:defRPr>
            </a:pPr>
            <a:r>
              <a:t>-- Filter + masks applied AUTOMATICALLY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Data Lineage in Unity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60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EC5"/>
                </a:solidFill>
              </a:defRPr>
            </a:pPr>
            <a:r>
              <a:t>Automatic lineage — from S3 files through bronze/silver/gold to materialized views</a:t>
            </a:r>
          </a:p>
        </p:txBody>
      </p:sp>
      <p:pic>
        <p:nvPicPr>
          <p:cNvPr id="5" name="Picture 4" descr="uc-data-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6868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537960"/>
            <a:ext cx="118259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60"/>
                </a:solidFill>
              </a:defRPr>
            </a:pPr>
            <a:r>
              <a:t>Screenshot: Sreekanth Keerthipati's Databricks workspace  |  ecommerce lakehouse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11887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9EF5"/>
                </a:solidFill>
              </a:defRPr>
            </a:pPr>
            <a:r>
              <a:t>What this shows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1691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EC5"/>
                </a:solidFill>
              </a:defRPr>
            </a:pPr>
          </a:p>
          <a:p>
            <a:pPr>
              <a:defRPr sz="1200">
                <a:solidFill>
                  <a:srgbClr val="B0BEC5"/>
                </a:solidFill>
              </a:defRPr>
            </a:pPr>
            <a:r>
              <a:t>  External S3 locations as sources</a:t>
            </a:r>
          </a:p>
          <a:p>
            <a:pPr>
              <a:defRPr sz="1200">
                <a:solidFill>
                  <a:srgbClr val="B0BEC5"/>
                </a:solidFill>
              </a:defRPr>
            </a:pPr>
            <a:r>
              <a:t>  → ecommerce.bronze.orders</a:t>
            </a:r>
          </a:p>
          <a:p>
            <a:pPr>
              <a:defRPr sz="1200">
                <a:solidFill>
                  <a:srgbClr val="B0BEC5"/>
                </a:solidFill>
              </a:defRPr>
            </a:pPr>
            <a:r>
              <a:t>  → ecommerce.silver.orders</a:t>
            </a:r>
          </a:p>
          <a:p>
            <a:pPr>
              <a:defRPr sz="1200">
                <a:solidFill>
                  <a:srgbClr val="B0BEC5"/>
                </a:solidFill>
              </a:defRPr>
            </a:pPr>
            <a:r>
              <a:t>  → ecommerce.gold.fact_orders</a:t>
            </a:r>
          </a:p>
          <a:p>
            <a:pPr>
              <a:defRPr sz="1200">
                <a:solidFill>
                  <a:srgbClr val="B0BEC5"/>
                </a:solidFill>
              </a:defRPr>
            </a:pPr>
            <a:r>
              <a:t>  → 4 regional materialized views</a:t>
            </a:r>
          </a:p>
          <a:p>
            <a:pPr>
              <a:defRPr sz="1200">
                <a:solidFill>
                  <a:srgbClr val="B0BEC5"/>
                </a:solidFill>
              </a:defRPr>
            </a:pPr>
            <a:r>
              <a:t>    (west / southeast / northeast / midwest)</a:t>
            </a:r>
          </a:p>
          <a:p>
            <a:pPr>
              <a:defRPr sz="1200">
                <a:solidFill>
                  <a:srgbClr val="B0BEC5"/>
                </a:solidFill>
              </a:defRPr>
            </a:pPr>
            <a:r>
              <a:t>  </a:t>
            </a:r>
          </a:p>
          <a:p>
            <a:pPr>
              <a:defRPr sz="1200">
                <a:solidFill>
                  <a:srgbClr val="B0BEC5"/>
                </a:solidFill>
              </a:defRPr>
            </a:pPr>
            <a:r>
              <a:t>  Zero configuration needed —</a:t>
            </a:r>
          </a:p>
          <a:p>
            <a:pPr>
              <a:defRPr sz="1200">
                <a:solidFill>
                  <a:srgbClr val="B0BEC5"/>
                </a:solidFill>
              </a:defRPr>
            </a:pPr>
            <a:r>
              <a:t>  UC captures this automatically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846320"/>
            <a:ext cx="11460175" cy="25400"/>
          </a:xfrm>
          <a:prstGeom prst="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0" y="49377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</a:defRPr>
            </a:pPr>
            <a:r>
              <a:t>Use cases: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53492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</a:defRPr>
            </a:pPr>
          </a:p>
          <a:p>
            <a:pPr>
              <a:defRPr sz="1200">
                <a:solidFill>
                  <a:srgbClr val="B0BEC5"/>
                </a:solidFill>
              </a:defRPr>
            </a:pPr>
            <a:r>
              <a:t>•  Impact analysis before schema changes</a:t>
            </a:r>
          </a:p>
          <a:p>
            <a:pPr>
              <a:defRPr sz="1200">
                <a:solidFill>
                  <a:srgbClr val="B0BEC5"/>
                </a:solidFill>
              </a:defRPr>
            </a:pPr>
            <a:r>
              <a:t>•  Root cause when dashboard is wrong</a:t>
            </a:r>
          </a:p>
          <a:p>
            <a:pPr>
              <a:defRPr sz="1200">
                <a:solidFill>
                  <a:srgbClr val="B0BEC5"/>
                </a:solidFill>
              </a:defRPr>
            </a:pPr>
            <a:r>
              <a:t>•  Compliance: trace PII flow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Lakehouse Federation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60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EC5"/>
                </a:solidFill>
              </a:defRPr>
            </a:pPr>
            <a:r>
              <a:t>Discover, query, and govern all your data — no matter where it lives</a:t>
            </a:r>
          </a:p>
        </p:txBody>
      </p:sp>
      <p:pic>
        <p:nvPicPr>
          <p:cNvPr id="5" name="Picture 4" descr="lakehouse-fed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537960"/>
            <a:ext cx="118259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6060"/>
                </a:solidFill>
              </a:defRPr>
            </a:pPr>
            <a:r>
              <a:t>Credit: Databricks, Inc.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Lakehouse Federation —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60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EC5"/>
                </a:solidFill>
              </a:defRPr>
            </a:pPr>
            <a:r>
              <a:t>Three UC objects: Connection → Foreign Catalog → Foreign 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143000"/>
            <a:ext cx="3749039" cy="534924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34440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29EF5"/>
                </a:solidFill>
              </a:defRPr>
            </a:pPr>
            <a:r>
              <a:t>1  CONNECTION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91640"/>
            <a:ext cx="35204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</a:defRPr>
            </a:pPr>
            <a:r>
              <a:t>Stores credentials to reach an external system.</a:t>
            </a:r>
            <a:br/>
            <a:r>
              <a:t>Lives at the Metastore level.</a:t>
            </a:r>
            <a:br/>
            <a:r>
              <a:t>Created by Metastore Admin.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2834640"/>
            <a:ext cx="3520439" cy="3383280"/>
          </a:xfrm>
          <a:prstGeom prst="rect">
            <a:avLst/>
          </a:prstGeom>
          <a:solidFill>
            <a:srgbClr val="0D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2926080"/>
            <a:ext cx="333755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CAF50"/>
                </a:solidFill>
              </a:defRPr>
            </a:pPr>
            <a:r>
              <a:t>CREATE CONNECTION snowflake_prod</a:t>
            </a:r>
            <a:br/>
            <a:r>
              <a:t>  TYPE SNOWFLAKE</a:t>
            </a:r>
            <a:br/>
            <a:r>
              <a:t>  OPTIONS (</a:t>
            </a:r>
            <a:br/>
            <a:r>
              <a:t>    host 'org.snowflake.com',</a:t>
            </a:r>
            <a:br/>
            <a:r>
              <a:t>    user 'databricks_user',</a:t>
            </a:r>
            <a:br/>
            <a:r>
              <a:t>    password secret('scope','key')</a:t>
            </a:r>
            <a:br/>
            <a:r>
              <a:t>  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799" y="1143000"/>
            <a:ext cx="3749039" cy="534924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59" y="1234440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9800"/>
                </a:solidFill>
              </a:defRPr>
            </a:pPr>
            <a:r>
              <a:t>2  FOREIGN CATALOG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59" y="1691640"/>
            <a:ext cx="35204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</a:defRPr>
            </a:pPr>
            <a:r>
              <a:t>Maps a remote database into UC namespace.</a:t>
            </a:r>
            <a:br/>
            <a:r>
              <a:t>Schemas and tables are auto-discovered.</a:t>
            </a:r>
            <a:br/>
            <a:r>
              <a:t>Governed with same GRANT/REVOKE.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4527" y="2834640"/>
            <a:ext cx="3520439" cy="3383280"/>
          </a:xfrm>
          <a:prstGeom prst="rect">
            <a:avLst/>
          </a:prstGeom>
          <a:solidFill>
            <a:srgbClr val="0D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7" y="2926080"/>
            <a:ext cx="333755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CAF50"/>
                </a:solidFill>
              </a:defRPr>
            </a:pPr>
            <a:r>
              <a:t>CREATE FOREIGN CATALOG snowflake_cat</a:t>
            </a:r>
            <a:br/>
            <a:r>
              <a:t>  USING CONNECTION snowflake_prod</a:t>
            </a:r>
            <a:br/>
            <a:r>
              <a:t>  OPTIONS (database 'PROD_DB');</a:t>
            </a:r>
            <a:br/>
            <a:br/>
            <a:r>
              <a:t>SHOW SCHEMAS IN snowflake_cat;</a:t>
            </a:r>
            <a:br/>
            <a:r>
              <a:t>SHOW TABLES IN snowflake_cat.finance;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8" y="1143000"/>
            <a:ext cx="3749039" cy="534924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8" y="1234440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CAF50"/>
                </a:solidFill>
              </a:defRPr>
            </a:pPr>
            <a:r>
              <a:t>3  FOREIGN 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8" y="1691640"/>
            <a:ext cx="35204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</a:defRPr>
            </a:pPr>
            <a:r>
              <a:t>Auto-discovered. Queryable via SQL.</a:t>
            </a:r>
            <a:br/>
            <a:r>
              <a:t>Reads live from source — no data copy.</a:t>
            </a:r>
            <a:br/>
            <a:r>
              <a:t>Pushdown: filters/aggregations in source.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56446" y="2834640"/>
            <a:ext cx="3520439" cy="3383280"/>
          </a:xfrm>
          <a:prstGeom prst="rect">
            <a:avLst/>
          </a:prstGeom>
          <a:solidFill>
            <a:srgbClr val="0D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6" y="2926080"/>
            <a:ext cx="333755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CAF50"/>
                </a:solidFill>
              </a:defRPr>
            </a:pPr>
            <a:r>
              <a:t>SELECT region, SUM(revenue)</a:t>
            </a:r>
            <a:br/>
            <a:r>
              <a:t>FROM snowflake_cat.finance.revenue</a:t>
            </a:r>
            <a:br/>
            <a:r>
              <a:t>WHERE year = 2024</a:t>
            </a:r>
            <a:br/>
            <a:r>
              <a:t>GROUP BY region;</a:t>
            </a:r>
            <a:br/>
            <a:r>
              <a:t>-- Runs IN Snowflake, returns result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60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EC5"/>
                </a:solidFill>
              </a:defRPr>
            </a:pPr>
            <a:r>
              <a:t>Unity Catalog — what you need to remember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143000"/>
            <a:ext cx="5760720" cy="137160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143000"/>
            <a:ext cx="73152" cy="1371600"/>
          </a:xfrm>
          <a:prstGeom prst="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29EF5"/>
                </a:solidFill>
              </a:defRPr>
            </a:pPr>
            <a:r>
              <a:t>Metastore = Metadata Registry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459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</a:defRPr>
            </a:pPr>
            <a:r>
              <a:t>Data files live in cloud storage (S3/ADLS). The metastore holds DDL, schema, location, ACLs. Both must stay in sync.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143000"/>
            <a:ext cx="5760720" cy="137160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E8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143000"/>
            <a:ext cx="73152" cy="137160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3E3E"/>
                </a:solidFill>
              </a:defRPr>
            </a:pPr>
            <a:r>
              <a:t>HMS was workspace-local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6459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</a:defRPr>
            </a:pPr>
            <a:r>
              <a:t>Hive Metastore gave each workspace its own isolated silo — no sharing, no cross-workspace governance, no lineage.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" y="2624328"/>
            <a:ext cx="5760720" cy="137160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" y="2624328"/>
            <a:ext cx="73152" cy="13716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7157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AF50"/>
                </a:solidFill>
              </a:defRPr>
            </a:pPr>
            <a:r>
              <a:t>UC is account-level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27248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</a:defRPr>
            </a:pPr>
            <a:r>
              <a:t>One metastore per region. Assign it to multiple workspaces. Define users/groups once, use everywhere.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624328"/>
            <a:ext cx="5760720" cy="137160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624328"/>
            <a:ext cx="73152" cy="13716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7157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</a:defRPr>
            </a:pPr>
            <a:r>
              <a:t>3-Level Namespace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127248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</a:defRPr>
            </a:pPr>
            <a:r>
              <a:t>catalog.schema.table — the catalog level organises by environment (dev/prod) or business unit.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" y="4105656"/>
            <a:ext cx="5760720" cy="137160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" y="4105656"/>
            <a:ext cx="73152" cy="1371600"/>
          </a:xfrm>
          <a:prstGeom prst="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19709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29EF5"/>
                </a:solidFill>
              </a:defRPr>
            </a:pPr>
            <a:r>
              <a:t>Native Row Filters &amp; Column Masks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608576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</a:defRPr>
            </a:pPr>
            <a:r>
              <a:t>Attach a function to a TABLE — filter rows and mask columns transparently. No more N regional views.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105656"/>
            <a:ext cx="5760720" cy="137160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4105656"/>
            <a:ext cx="73152" cy="13716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19709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AF50"/>
                </a:solidFill>
              </a:defRPr>
            </a:pPr>
            <a:r>
              <a:t>Automatic Lineage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608576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</a:defRPr>
            </a:pPr>
            <a:r>
              <a:t>Every SQL query, notebook, and job is tracked. See upstream sources and downstream consumers in Catalog Explorer.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" y="5586984"/>
            <a:ext cx="5760720" cy="137160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2880" y="5586984"/>
            <a:ext cx="73152" cy="13716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67842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</a:defRPr>
            </a:pPr>
            <a:r>
              <a:t>Lakehouse Federation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089904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</a:defRPr>
            </a:pPr>
            <a:r>
              <a:t>Query Snowflake, MySQL, PostgreSQL, Redshift live — no copy, no ETL. UC governs access with same GRANT/REVOKE.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5586984"/>
            <a:ext cx="5760720" cy="137160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E8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5586984"/>
            <a:ext cx="73152" cy="137160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567842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3E3E"/>
                </a:solidFill>
              </a:defRPr>
            </a:pPr>
            <a:r>
              <a:t>Admin Roles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6089904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</a:defRPr>
            </a:pPr>
            <a:r>
              <a:t>Account Admin → creates metastores. Metastore Admin → governs data. Workspace Admin → manages compute.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