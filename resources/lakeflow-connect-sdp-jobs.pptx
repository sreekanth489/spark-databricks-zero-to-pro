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Lakeflow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429EF5"/>
                </a:solidFill>
              </a:defRPr>
            </a:pPr>
            <a:r>
              <a:t>Connect  |  Spark Declarative Pipelines  |  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EC5"/>
                </a:solidFill>
              </a:defRPr>
            </a:pPr>
            <a:r>
              <a:t>Ingest, Transform, and Orchestrate -- The Complete Data Engineering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4572000"/>
            <a:ext cx="2103120" cy="54864"/>
          </a:xfrm>
          <a:prstGeom prst="round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EC5"/>
                </a:solidFill>
              </a:defRPr>
            </a:pPr>
            <a:r>
              <a:t>Spark Databricks Zero-to-Pro  |  Day 22, 23 &amp;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Lakeflow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3200400"/>
          </a:xfrm>
          <a:prstGeom prst="roundRect">
            <a:avLst/>
          </a:prstGeom>
          <a:solidFill>
            <a:srgbClr val="121518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4CAF50"/>
                </a:solidFill>
                <a:latin typeface="Courier New"/>
              </a:defRPr>
            </a:pPr>
            <a:r>
              <a:t>LAKEFLOW PLATFORM</a:t>
            </a:r>
          </a:p>
          <a:p>
            <a:pPr>
              <a:defRPr sz="1500">
                <a:solidFill>
                  <a:srgbClr val="4CAF50"/>
                </a:solidFill>
                <a:latin typeface="Courier New"/>
              </a:defRPr>
            </a:pPr>
            <a:r>
              <a:t>  ┌──────────────┐      ┌──────────────────────┐      ┌──────────────┐</a:t>
            </a:r>
          </a:p>
          <a:p>
            <a:pPr>
              <a:defRPr sz="1500">
                <a:solidFill>
                  <a:srgbClr val="4CAF50"/>
                </a:solidFill>
                <a:latin typeface="Courier New"/>
              </a:defRPr>
            </a:pPr>
            <a:r>
              <a:t>  │   CONNECT    │ ───&gt; │  SPARK DECLARATIVE    │ ───&gt; │     JOBS     │</a:t>
            </a:r>
          </a:p>
          <a:p>
            <a:pPr>
              <a:defRPr sz="1500">
                <a:solidFill>
                  <a:srgbClr val="4CAF50"/>
                </a:solidFill>
                <a:latin typeface="Courier New"/>
              </a:defRPr>
            </a:pPr>
            <a:r>
              <a:t>  │   (Ingest)   │      │     PIPELINES         │      │ (Orchestrate)│</a:t>
            </a:r>
          </a:p>
          <a:p>
            <a:pPr>
              <a:defRPr sz="1500">
                <a:solidFill>
                  <a:srgbClr val="4CAF50"/>
                </a:solidFill>
                <a:latin typeface="Courier New"/>
              </a:defRPr>
            </a:pPr>
            <a:r>
              <a:t>  │   Day 22     │      │    (Transform)        │      │   Day 24     │</a:t>
            </a:r>
          </a:p>
          <a:p>
            <a:pPr>
              <a:defRPr sz="1500">
                <a:solidFill>
                  <a:srgbClr val="4CAF50"/>
                </a:solidFill>
                <a:latin typeface="Courier New"/>
              </a:defRPr>
            </a:pPr>
            <a:r>
              <a:t>  │              │      │     Day 23            │      │              │</a:t>
            </a:r>
          </a:p>
          <a:p>
            <a:pPr>
              <a:defRPr sz="1500">
                <a:solidFill>
                  <a:srgbClr val="4CAF50"/>
                </a:solidFill>
                <a:latin typeface="Courier New"/>
              </a:defRPr>
            </a:pPr>
            <a:r>
              <a:t>  └──────────────┘      └──────────────────────┘      └──────────────┘</a:t>
            </a:r>
          </a:p>
          <a:p>
            <a:pPr>
              <a:defRPr sz="1500">
                <a:solidFill>
                  <a:srgbClr val="4CAF50"/>
                </a:solidFill>
                <a:latin typeface="Courier New"/>
              </a:defRPr>
            </a:pPr>
          </a:p>
          <a:p>
            <a:pPr>
              <a:defRPr sz="1500">
                <a:solidFill>
                  <a:srgbClr val="4CAF50"/>
                </a:solidFill>
                <a:latin typeface="Courier New"/>
              </a:defRPr>
            </a:pPr>
            <a:r>
              <a:t>  External Sources       Bronze -&gt; Silver              Scheduling</a:t>
            </a:r>
          </a:p>
          <a:p>
            <a:pPr>
              <a:defRPr sz="1500">
                <a:solidFill>
                  <a:srgbClr val="4CAF50"/>
                </a:solidFill>
                <a:latin typeface="Courier New"/>
              </a:defRPr>
            </a:pPr>
            <a:r>
              <a:t>  -&gt; Bronze Tables       -&gt; Gold Tables                &amp; Monitoring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754880"/>
            <a:ext cx="3474720" cy="182880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9800"/>
                </a:solidFill>
              </a:defRPr>
            </a:pPr>
            <a:r>
              <a:t>CONNECT</a:t>
            </a:r>
          </a:p>
          <a:p>
            <a:pPr algn="ctr">
              <a:spcBef>
                <a:spcPts val="600"/>
              </a:spcBef>
              <a:defRPr sz="1400">
                <a:solidFill>
                  <a:srgbClr val="B0BEC5"/>
                </a:solidFill>
              </a:defRPr>
            </a:pPr>
            <a:r>
              <a:t>Get the data IN</a:t>
            </a:r>
          </a:p>
          <a:p>
            <a:pPr algn="ctr">
              <a:spcBef>
                <a:spcPts val="600"/>
              </a:spcBef>
              <a:defRPr sz="1400">
                <a:solidFill>
                  <a:srgbClr val="B0BEC5"/>
                </a:solidFill>
              </a:defRPr>
            </a:pPr>
            <a:r>
              <a:t>Databases, SaaS, Files, APIs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4754880"/>
            <a:ext cx="3474720" cy="182880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4CAF50"/>
                </a:solidFill>
              </a:defRPr>
            </a:pPr>
            <a:r>
              <a:t>SDP</a:t>
            </a:r>
          </a:p>
          <a:p>
            <a:pPr algn="ctr">
              <a:spcBef>
                <a:spcPts val="600"/>
              </a:spcBef>
              <a:defRPr sz="1400">
                <a:solidFill>
                  <a:srgbClr val="B0BEC5"/>
                </a:solidFill>
              </a:defRPr>
            </a:pPr>
            <a:r>
              <a:t>Make the data RIGHT</a:t>
            </a:r>
          </a:p>
          <a:p>
            <a:pPr algn="ctr">
              <a:spcBef>
                <a:spcPts val="600"/>
              </a:spcBef>
              <a:defRPr sz="1400">
                <a:solidFill>
                  <a:srgbClr val="B0BEC5"/>
                </a:solidFill>
              </a:defRPr>
            </a:pPr>
            <a:r>
              <a:t>Bronze -&gt; Silver -&gt; Gold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4754880"/>
            <a:ext cx="3474720" cy="182880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AB47BC"/>
                </a:solidFill>
              </a:defRPr>
            </a:pPr>
            <a:r>
              <a:t>JOBS</a:t>
            </a:r>
          </a:p>
          <a:p>
            <a:pPr algn="ctr">
              <a:spcBef>
                <a:spcPts val="600"/>
              </a:spcBef>
              <a:defRPr sz="1400">
                <a:solidFill>
                  <a:srgbClr val="B0BEC5"/>
                </a:solidFill>
              </a:defRPr>
            </a:pPr>
            <a:r>
              <a:t>Run it RELIABLY</a:t>
            </a:r>
          </a:p>
          <a:p>
            <a:pPr algn="ctr">
              <a:spcBef>
                <a:spcPts val="600"/>
              </a:spcBef>
              <a:defRPr sz="1400">
                <a:solidFill>
                  <a:srgbClr val="B0BEC5"/>
                </a:solidFill>
              </a:defRPr>
            </a:pPr>
            <a:r>
              <a:t>Schedule, Monitor, Retry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Part 1: Lakeflow 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9800"/>
                </a:solidFill>
              </a:defRPr>
            </a:pPr>
            <a:r>
              <a:t>Bring External Data INTO the Lakehouse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4389120"/>
            <a:ext cx="2103120" cy="54864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Lakeflow Connect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11612880" cy="5303520"/>
          </a:xfrm>
          <a:prstGeom prst="roundRect">
            <a:avLst/>
          </a:prstGeom>
          <a:solidFill>
            <a:srgbClr val="121518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4CAF50"/>
                </a:solidFill>
                <a:latin typeface="Courier New"/>
              </a:defRPr>
            </a:pPr>
            <a:r>
              <a:t>External Sources              Lakeflow Connect                  Lakehouse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===============        ============================       ==================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Cloud Storage ───────&gt; Standard Connectors           ───&gt; Unity Catalog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(S3/ADLS/GCS)          * Auto Loader (cloudFiles)           ┌───────────┐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                    * Batch (spark.read)                  │  Bronze   │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Kafka Topics  ───────&gt; * Kafka Connector              ───&gt;  │  Tables   │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                    * Streaming (readStream)              └───────────┘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                                                          ┌───────────┐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Databases     ───────&gt; Managed Connectors              ───&gt; │ Streaming │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(PostgreSQL,           * No-code UI setup                    │  Tables   │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MySQL, Oracle)        * CDC-based incremental               └───────────┘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                    * Serverless compute                  ┌───────────┐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SaaS Apps     ───────&gt; Managed Connectors              ───&gt; │  Volumes  │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(Salesforce,           * Schema auto-inference               └───────────┘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Workday)              * Auto-scaling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Local Files   ───────&gt; Manual File Upload              ───&gt; Volume or 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Three Ingestion Types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3657600" cy="502920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429EF5"/>
                </a:solidFill>
              </a:defRPr>
            </a:pPr>
            <a:r>
              <a:t>Manual File Upload</a:t>
            </a:r>
          </a:p>
          <a:p/>
          <a:p>
            <a:pPr>
              <a:spcBef>
                <a:spcPts val="800"/>
              </a:spcBef>
              <a:defRPr sz="1500">
                <a:solidFill>
                  <a:srgbClr val="B0BEC5"/>
                </a:solidFill>
              </a:defRPr>
            </a:pPr>
            <a:r>
              <a:t>  Drag &amp; drop via Databricks UI</a:t>
            </a:r>
          </a:p>
          <a:p>
            <a:pPr>
              <a:spcBef>
                <a:spcPts val="800"/>
              </a:spcBef>
              <a:defRPr sz="1500">
                <a:solidFill>
                  <a:srgbClr val="B0BEC5"/>
                </a:solidFill>
              </a:defRPr>
            </a:pPr>
            <a:r>
              <a:t>  Best for: one-time loads, &lt;2 GB</a:t>
            </a:r>
          </a:p>
          <a:p>
            <a:pPr>
              <a:spcBef>
                <a:spcPts val="800"/>
              </a:spcBef>
              <a:defRPr sz="1500">
                <a:solidFill>
                  <a:srgbClr val="B0BEC5"/>
                </a:solidFill>
              </a:defRPr>
            </a:pPr>
            <a:r>
              <a:t>  Schema auto-inferred</a:t>
            </a:r>
          </a:p>
          <a:p>
            <a:pPr>
              <a:spcBef>
                <a:spcPts val="800"/>
              </a:spcBef>
              <a:defRPr sz="1500">
                <a:solidFill>
                  <a:srgbClr val="B0BEC5"/>
                </a:solidFill>
              </a:defRPr>
            </a:pPr>
            <a:r>
              <a:t>  Stored in Volumes or Tables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188720"/>
            <a:ext cx="3657600" cy="502920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4CAF50"/>
                </a:solidFill>
              </a:defRPr>
            </a:pPr>
            <a:r>
              <a:t>Standard Connectors</a:t>
            </a:r>
          </a:p>
          <a:p/>
          <a:p>
            <a:pPr>
              <a:spcBef>
                <a:spcPts val="800"/>
              </a:spcBef>
              <a:defRPr sz="1500">
                <a:solidFill>
                  <a:srgbClr val="B0BEC5"/>
                </a:solidFill>
              </a:defRPr>
            </a:pPr>
            <a:r>
              <a:t>  Code-based (PySpark / SQL)</a:t>
            </a:r>
          </a:p>
          <a:p>
            <a:pPr>
              <a:spcBef>
                <a:spcPts val="800"/>
              </a:spcBef>
              <a:defRPr sz="1500">
                <a:solidFill>
                  <a:srgbClr val="B0BEC5"/>
                </a:solidFill>
              </a:defRPr>
            </a:pPr>
            <a:r>
              <a:t>  Auto Loader, JDBC, Kafka</a:t>
            </a:r>
          </a:p>
          <a:p>
            <a:pPr>
              <a:spcBef>
                <a:spcPts val="800"/>
              </a:spcBef>
              <a:defRPr sz="1500">
                <a:solidFill>
                  <a:srgbClr val="B0BEC5"/>
                </a:solidFill>
              </a:defRPr>
            </a:pPr>
            <a:r>
              <a:t>  Batch, Incremental, Streaming</a:t>
            </a:r>
          </a:p>
          <a:p>
            <a:pPr>
              <a:spcBef>
                <a:spcPts val="800"/>
              </a:spcBef>
              <a:defRPr sz="1500">
                <a:solidFill>
                  <a:srgbClr val="B0BEC5"/>
                </a:solidFill>
              </a:defRPr>
            </a:pPr>
            <a:r>
              <a:t>  Full control over ingestion logic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188720"/>
            <a:ext cx="3657600" cy="502920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AB47BC"/>
                </a:solidFill>
              </a:defRPr>
            </a:pPr>
            <a:r>
              <a:t>Managed Connectors</a:t>
            </a:r>
          </a:p>
          <a:p/>
          <a:p>
            <a:pPr>
              <a:spcBef>
                <a:spcPts val="800"/>
              </a:spcBef>
              <a:defRPr sz="1500">
                <a:solidFill>
                  <a:srgbClr val="B0BEC5"/>
                </a:solidFill>
              </a:defRPr>
            </a:pPr>
            <a:r>
              <a:t>  No-code, serverless, CDC-based</a:t>
            </a:r>
          </a:p>
          <a:p>
            <a:pPr>
              <a:spcBef>
                <a:spcPts val="800"/>
              </a:spcBef>
              <a:defRPr sz="1500">
                <a:solidFill>
                  <a:srgbClr val="B0BEC5"/>
                </a:solidFill>
              </a:defRPr>
            </a:pPr>
            <a:r>
              <a:t>  Databases + SaaS apps</a:t>
            </a:r>
          </a:p>
          <a:p>
            <a:pPr>
              <a:spcBef>
                <a:spcPts val="800"/>
              </a:spcBef>
              <a:defRPr sz="1500">
                <a:solidFill>
                  <a:srgbClr val="B0BEC5"/>
                </a:solidFill>
              </a:defRPr>
            </a:pPr>
            <a:r>
              <a:t>  Auto schema inference + evolution</a:t>
            </a:r>
          </a:p>
          <a:p>
            <a:pPr>
              <a:spcBef>
                <a:spcPts val="800"/>
              </a:spcBef>
              <a:defRPr sz="1500">
                <a:solidFill>
                  <a:srgbClr val="B0BEC5"/>
                </a:solidFill>
              </a:defRPr>
            </a:pPr>
            <a:r>
              <a:t>  Built-in monitoring dashboards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Standard Connectors: Ingestion Modes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286000" cy="45720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188720"/>
            <a:ext cx="3200400" cy="45720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Description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188720"/>
            <a:ext cx="2286000" cy="45720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Latency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188720"/>
            <a:ext cx="3200400" cy="45720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Use Case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22860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Batch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691640"/>
            <a:ext cx="32004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Full load every run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691640"/>
            <a:ext cx="22860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Minutes-Hours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691640"/>
            <a:ext cx="32004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Small tables, snapshots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94560"/>
            <a:ext cx="22860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Incremental Batch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2194560"/>
            <a:ext cx="32004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Only new/changed rows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2194560"/>
            <a:ext cx="22860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Minutes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194560"/>
            <a:ext cx="32004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Append-only logs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697480"/>
            <a:ext cx="22860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Streaming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2697480"/>
            <a:ext cx="32004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Continuous real-time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2697480"/>
            <a:ext cx="22860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Seconds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2697480"/>
            <a:ext cx="32004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Kafka, clickstream, IoT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291840"/>
            <a:ext cx="11247120" cy="3108960"/>
          </a:xfrm>
          <a:prstGeom prst="roundRect">
            <a:avLst/>
          </a:prstGeom>
          <a:solidFill>
            <a:srgbClr val="121518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4CAF50"/>
                </a:solidFill>
                <a:latin typeface="Courier New"/>
              </a:defRPr>
            </a:pPr>
            <a:r>
              <a:t># Auto Loader (most common standard connector)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spark.readStream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    .format("cloudFiles")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    .option("cloudFiles.format", "json")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    .option("cloudFiles.schemaLocation", "s3://bucket/schemas/")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    .load("s3://bucket/raw/clickstream/")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    .writeStream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    .option("checkpointLocation", "s3://bucket/checkpoints/")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    .toTable("ecommerce.bronze.clickstream")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Managed Connectors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9EF5"/>
                </a:solidFill>
              </a:defRPr>
            </a:pPr>
            <a:r>
              <a:t>No-code, serverless, CDC-based ingestion from databases and SaaS apps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3474720" cy="109728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AB47BC"/>
                </a:solidFill>
              </a:defRPr>
            </a:pPr>
            <a:r>
              <a:t>No-code setup</a:t>
            </a:r>
          </a:p>
          <a:p>
            <a:pPr algn="ctr">
              <a:defRPr sz="1300">
                <a:solidFill>
                  <a:srgbClr val="B0BEC5"/>
                </a:solidFill>
              </a:defRPr>
            </a:pPr>
            <a:r>
              <a:t>Configure entirely through Databricks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737360"/>
            <a:ext cx="3474720" cy="109728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AB47BC"/>
                </a:solidFill>
              </a:defRPr>
            </a:pPr>
            <a:r>
              <a:t>Serverless compute</a:t>
            </a:r>
          </a:p>
          <a:p>
            <a:pPr algn="ctr">
              <a:defRPr sz="1300">
                <a:solidFill>
                  <a:srgbClr val="B0BEC5"/>
                </a:solidFill>
              </a:defRPr>
            </a:pPr>
            <a:r>
              <a:t>No clusters to manage; auto-scaling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737360"/>
            <a:ext cx="3474720" cy="109728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AB47BC"/>
                </a:solidFill>
              </a:defRPr>
            </a:pPr>
            <a:r>
              <a:t>CDC-based</a:t>
            </a:r>
          </a:p>
          <a:p>
            <a:pPr algn="ctr">
              <a:defRPr sz="1300">
                <a:solidFill>
                  <a:srgbClr val="B0BEC5"/>
                </a:solidFill>
              </a:defRPr>
            </a:pPr>
            <a:r>
              <a:t>Uses database change logs for incremental reads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08960"/>
            <a:ext cx="3474720" cy="109728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AB47BC"/>
                </a:solidFill>
              </a:defRPr>
            </a:pPr>
            <a:r>
              <a:t>Schema evolution</a:t>
            </a:r>
          </a:p>
          <a:p>
            <a:pPr algn="ctr">
              <a:defRPr sz="1300">
                <a:solidFill>
                  <a:srgbClr val="B0BEC5"/>
                </a:solidFill>
              </a:defRPr>
            </a:pPr>
            <a:r>
              <a:t>Handles new columns and type changes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108960"/>
            <a:ext cx="3474720" cy="109728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AB47BC"/>
                </a:solidFill>
              </a:defRPr>
            </a:pPr>
            <a:r>
              <a:t>Unity Catalog</a:t>
            </a:r>
          </a:p>
          <a:p>
            <a:pPr algn="ctr">
              <a:defRPr sz="1300">
                <a:solidFill>
                  <a:srgbClr val="B0BEC5"/>
                </a:solidFill>
              </a:defRPr>
            </a:pPr>
            <a:r>
              <a:t>All data governed from ingestion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3108960"/>
            <a:ext cx="3474720" cy="109728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AB47BC"/>
                </a:solidFill>
              </a:defRPr>
            </a:pPr>
            <a:r>
              <a:t>Built-in monitoring</a:t>
            </a:r>
          </a:p>
          <a:p>
            <a:pPr algn="ctr">
              <a:defRPr sz="1300">
                <a:solidFill>
                  <a:srgbClr val="B0BEC5"/>
                </a:solidFill>
              </a:defRPr>
            </a:pPr>
            <a:r>
              <a:t>Health, freshness, and error dashboards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754880"/>
            <a:ext cx="11247120" cy="1828800"/>
          </a:xfrm>
          <a:prstGeom prst="roundRect">
            <a:avLst/>
          </a:prstGeom>
          <a:solidFill>
            <a:srgbClr val="121518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4CAF50"/>
                </a:solidFill>
                <a:latin typeface="Courier New"/>
              </a:defRPr>
            </a:pPr>
            <a:r>
              <a:t>-- SQL: Create a managed connection + streaming table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CREATE CONNECTION my_postgres TYPE postgresql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OPTIONS (host 'db.example.com', port '5432',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         user secret('jdbc', 'user'), password secret('jdbc', 'pwd'));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CREATE STREAMING TABLE ecommerce.bronze.pg_customers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AS SELECT * FROM STREAM read_changefeed('my_postgres', 'public.customers');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Comparing Ingestion Methods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828800" cy="45720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Criteria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097280"/>
            <a:ext cx="2560320" cy="45720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Manual Upload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097280"/>
            <a:ext cx="3108960" cy="45720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Standard Connectors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097280"/>
            <a:ext cx="3474720" cy="45720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Managed Connectors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18288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Setup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600200"/>
            <a:ext cx="256032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None (UI drag-drop)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600200"/>
            <a:ext cx="310896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Code required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600200"/>
            <a:ext cx="347472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No-code (UI/SQL)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03120"/>
            <a:ext cx="18288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Compute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2103120"/>
            <a:ext cx="256032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Workspace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2103120"/>
            <a:ext cx="310896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User-managed clusters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2103120"/>
            <a:ext cx="347472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Serverless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606040"/>
            <a:ext cx="18288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Latency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2606040"/>
            <a:ext cx="256032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Manual trigger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2606040"/>
            <a:ext cx="310896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Batch to streaming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80" y="2606040"/>
            <a:ext cx="347472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Near real-time (CDC)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108960"/>
            <a:ext cx="18288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Scale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3108960"/>
            <a:ext cx="256032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Small (&lt;2 GB)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0" y="3108960"/>
            <a:ext cx="310896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Any size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80" y="3108960"/>
            <a:ext cx="347472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Auto-scaling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611880"/>
            <a:ext cx="18288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Schema Mgmt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0" y="3611880"/>
            <a:ext cx="256032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Auto-inferred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46320" y="3611880"/>
            <a:ext cx="310896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Code-managed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80" y="3611880"/>
            <a:ext cx="347472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Auto + evolution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114800"/>
            <a:ext cx="18288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Sources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0" y="4114800"/>
            <a:ext cx="256032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Local files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46320" y="4114800"/>
            <a:ext cx="310896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Any Spark source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80" y="4114800"/>
            <a:ext cx="347472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Databases + SaaS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617720"/>
            <a:ext cx="18288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Monitoring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6000" y="4617720"/>
            <a:ext cx="256032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None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46320" y="4617720"/>
            <a:ext cx="310896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Custom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55280" y="4617720"/>
            <a:ext cx="347472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Built-in dashboards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120640"/>
            <a:ext cx="18288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Best For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286000" y="5120640"/>
            <a:ext cx="256032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Ad-hoc loads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0" y="5120640"/>
            <a:ext cx="310896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Custom pipelines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55280" y="5120640"/>
            <a:ext cx="347472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Enterprise integration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Part 2: Spark Declarative Pipelines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CAF50"/>
                </a:solidFill>
              </a:defRPr>
            </a:pPr>
            <a:r>
              <a:t>Declare WHAT Your Data Should Look Like, Not HOW to Build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4389120"/>
            <a:ext cx="2103120" cy="54864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Three Eras of Spark Pipelines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200400" cy="45720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097280"/>
            <a:ext cx="2286000" cy="45720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Approach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097280"/>
            <a:ext cx="2743200" cy="45720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You Manage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1097280"/>
            <a:ext cx="2743200" cy="45720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Framework Manages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32004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Traditional Spark (2014+)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600200"/>
            <a:ext cx="22860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Imperative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600200"/>
            <a:ext cx="27432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Everything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1600200"/>
            <a:ext cx="27432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Query optimization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03120"/>
            <a:ext cx="32004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Delta Live Tables (2021+)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2103120"/>
            <a:ext cx="22860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Declarative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2103120"/>
            <a:ext cx="27432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Pipeline config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2103120"/>
            <a:ext cx="27432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DAG, checkpoints, CDC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606040"/>
            <a:ext cx="32004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Lakeflow SDP (2025+)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2606040"/>
            <a:ext cx="22860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Declarative + Platform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2606040"/>
            <a:ext cx="27432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Business logic only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2606040"/>
            <a:ext cx="27432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Everything + orchestration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3108960"/>
            <a:ext cx="9144000" cy="1371600"/>
          </a:xfrm>
          <a:prstGeom prst="roundRect">
            <a:avLst/>
          </a:prstGeom>
          <a:solidFill>
            <a:srgbClr val="121518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4CAF50"/>
                </a:solidFill>
                <a:latin typeface="Courier New"/>
              </a:defRPr>
            </a:pPr>
            <a:r>
              <a:t>Traditional Spark = Cooking manually         (you manage everything)</a:t>
            </a:r>
          </a:p>
          <a:p>
            <a:pPr>
              <a:defRPr sz="1600">
                <a:solidFill>
                  <a:srgbClr val="4CAF50"/>
                </a:solidFill>
                <a:latin typeface="Courier New"/>
              </a:defRPr>
            </a:pPr>
            <a:r>
              <a:t>DLT              = Smart cooking assistant   (handles timing &amp; quality)</a:t>
            </a:r>
          </a:p>
          <a:p>
            <a:pPr>
              <a:defRPr sz="1600">
                <a:solidFill>
                  <a:srgbClr val="4CAF50"/>
                </a:solidFill>
                <a:latin typeface="Courier New"/>
              </a:defRPr>
            </a:pPr>
            <a:r>
              <a:t>Lakeflow SDP     = Full restaurant kitchen   (manages the entire operation)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663440"/>
            <a:ext cx="3200400" cy="45720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Capability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4663440"/>
            <a:ext cx="2286000" cy="45720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Traditional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4663440"/>
            <a:ext cx="2743200" cy="45720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DLT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4663440"/>
            <a:ext cx="2743200" cy="45720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Lakeflow SDP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166360"/>
            <a:ext cx="32004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Checkpoint management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0" y="5166360"/>
            <a:ext cx="22860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Manual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0" y="5166360"/>
            <a:ext cx="27432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Auto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0" y="5166360"/>
            <a:ext cx="27432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Auto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669280"/>
            <a:ext cx="32004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Data quality tracking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0" y="5669280"/>
            <a:ext cx="22860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None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0" y="5669280"/>
            <a:ext cx="27432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Expectations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0" y="5669280"/>
            <a:ext cx="27432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Expectations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172200"/>
            <a:ext cx="32004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Pipeline DAG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0" y="6172200"/>
            <a:ext cx="22860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None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0" y="6172200"/>
            <a:ext cx="27432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Auto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0" y="6172200"/>
            <a:ext cx="27432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Auto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6675120"/>
            <a:ext cx="32004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CDC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0" y="6675120"/>
            <a:ext cx="22860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Manual MERGE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0" y="6675120"/>
            <a:ext cx="27432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apply_changes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86800" y="6675120"/>
            <a:ext cx="27432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Auto CDC Flow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7178040"/>
            <a:ext cx="32004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Open source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7600" y="7178040"/>
            <a:ext cx="22860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Yes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0" y="7178040"/>
            <a:ext cx="27432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No (Databricks)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86800" y="7178040"/>
            <a:ext cx="27432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Yes (Apache Spark)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Core Abstractions: Dataset Types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3657600" cy="530352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429EF5"/>
                </a:solidFill>
              </a:defRPr>
            </a:pPr>
            <a:r>
              <a:t>Streaming Table</a:t>
            </a:r>
          </a:p>
          <a:p/>
          <a:p>
            <a:pPr>
              <a:spcBef>
                <a:spcPts val="800"/>
              </a:spcBef>
              <a:defRPr sz="1500">
                <a:solidFill>
                  <a:srgbClr val="B0BEC5"/>
                </a:solidFill>
              </a:defRPr>
            </a:pPr>
            <a:r>
              <a:t>  Query: Streaming (append-only)</a:t>
            </a:r>
          </a:p>
          <a:p>
            <a:pPr>
              <a:spcBef>
                <a:spcPts val="800"/>
              </a:spcBef>
              <a:defRPr sz="1500">
                <a:solidFill>
                  <a:srgbClr val="B0BEC5"/>
                </a:solidFill>
              </a:defRPr>
            </a:pPr>
            <a:r>
              <a:t>  Refresh: Incremental</a:t>
            </a:r>
          </a:p>
          <a:p>
            <a:pPr>
              <a:spcBef>
                <a:spcPts val="800"/>
              </a:spcBef>
              <a:defRPr sz="1500">
                <a:solidFill>
                  <a:srgbClr val="B0BEC5"/>
                </a:solidFill>
              </a:defRPr>
            </a:pPr>
            <a:r>
              <a:t>  Storage: Delta table</a:t>
            </a:r>
          </a:p>
          <a:p>
            <a:pPr>
              <a:spcBef>
                <a:spcPts val="800"/>
              </a:spcBef>
              <a:defRPr sz="1500">
                <a:solidFill>
                  <a:srgbClr val="B0BEC5"/>
                </a:solidFill>
              </a:defRPr>
            </a:pPr>
            <a:r>
              <a:t>  Best for: Ingestion / Bronze</a:t>
            </a:r>
          </a:p>
          <a:p>
            <a:pPr>
              <a:spcBef>
                <a:spcPts val="800"/>
              </a:spcBef>
              <a:defRPr sz="1500">
                <a:solidFill>
                  <a:srgbClr val="B0BEC5"/>
                </a:solidFill>
              </a:defRPr>
            </a:pPr>
            <a:r>
              <a:t>  Python: @dp.table</a:t>
            </a:r>
          </a:p>
          <a:p>
            <a:pPr>
              <a:spcBef>
                <a:spcPts val="800"/>
              </a:spcBef>
              <a:defRPr sz="1500">
                <a:solidFill>
                  <a:srgbClr val="B0BEC5"/>
                </a:solidFill>
              </a:defRPr>
            </a:pPr>
            <a:r>
              <a:t>  SQL: CREATE STREAMING 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188720"/>
            <a:ext cx="3657600" cy="530352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4CAF50"/>
                </a:solidFill>
              </a:defRPr>
            </a:pPr>
            <a:r>
              <a:t>Materialized View</a:t>
            </a:r>
          </a:p>
          <a:p/>
          <a:p>
            <a:pPr>
              <a:spcBef>
                <a:spcPts val="800"/>
              </a:spcBef>
              <a:defRPr sz="1500">
                <a:solidFill>
                  <a:srgbClr val="B0BEC5"/>
                </a:solidFill>
              </a:defRPr>
            </a:pPr>
            <a:r>
              <a:t>  Query: Batch (full recompute)</a:t>
            </a:r>
          </a:p>
          <a:p>
            <a:pPr>
              <a:spcBef>
                <a:spcPts val="800"/>
              </a:spcBef>
              <a:defRPr sz="1500">
                <a:solidFill>
                  <a:srgbClr val="B0BEC5"/>
                </a:solidFill>
              </a:defRPr>
            </a:pPr>
            <a:r>
              <a:t>  Refresh: Complete</a:t>
            </a:r>
          </a:p>
          <a:p>
            <a:pPr>
              <a:spcBef>
                <a:spcPts val="800"/>
              </a:spcBef>
              <a:defRPr sz="1500">
                <a:solidFill>
                  <a:srgbClr val="B0BEC5"/>
                </a:solidFill>
              </a:defRPr>
            </a:pPr>
            <a:r>
              <a:t>  Storage: Delta table</a:t>
            </a:r>
          </a:p>
          <a:p>
            <a:pPr>
              <a:spcBef>
                <a:spcPts val="800"/>
              </a:spcBef>
              <a:defRPr sz="1500">
                <a:solidFill>
                  <a:srgbClr val="B0BEC5"/>
                </a:solidFill>
              </a:defRPr>
            </a:pPr>
            <a:r>
              <a:t>  Best for: Transforms / Gold</a:t>
            </a:r>
          </a:p>
          <a:p>
            <a:pPr>
              <a:spcBef>
                <a:spcPts val="800"/>
              </a:spcBef>
              <a:defRPr sz="1500">
                <a:solidFill>
                  <a:srgbClr val="B0BEC5"/>
                </a:solidFill>
              </a:defRPr>
            </a:pPr>
            <a:r>
              <a:t>  Python: @dp.materialized_view</a:t>
            </a:r>
          </a:p>
          <a:p>
            <a:pPr>
              <a:spcBef>
                <a:spcPts val="800"/>
              </a:spcBef>
              <a:defRPr sz="1500">
                <a:solidFill>
                  <a:srgbClr val="B0BEC5"/>
                </a:solidFill>
              </a:defRPr>
            </a:pPr>
            <a:r>
              <a:t>  SQL: CREATE MATERIALIZED 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188720"/>
            <a:ext cx="3657600" cy="530352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9800"/>
                </a:solidFill>
              </a:defRPr>
            </a:pPr>
            <a:r>
              <a:t>View</a:t>
            </a:r>
          </a:p>
          <a:p/>
          <a:p>
            <a:pPr>
              <a:spcBef>
                <a:spcPts val="800"/>
              </a:spcBef>
              <a:defRPr sz="1500">
                <a:solidFill>
                  <a:srgbClr val="B0BEC5"/>
                </a:solidFill>
              </a:defRPr>
            </a:pPr>
            <a:r>
              <a:t>  Query: Batch (on-read)</a:t>
            </a:r>
          </a:p>
          <a:p>
            <a:pPr>
              <a:spcBef>
                <a:spcPts val="800"/>
              </a:spcBef>
              <a:defRPr sz="1500">
                <a:solidFill>
                  <a:srgbClr val="B0BEC5"/>
                </a:solidFill>
              </a:defRPr>
            </a:pPr>
            <a:r>
              <a:t>  Refresh: No storage</a:t>
            </a:r>
          </a:p>
          <a:p>
            <a:pPr>
              <a:spcBef>
                <a:spcPts val="800"/>
              </a:spcBef>
              <a:defRPr sz="1500">
                <a:solidFill>
                  <a:srgbClr val="B0BEC5"/>
                </a:solidFill>
              </a:defRPr>
            </a:pPr>
            <a:r>
              <a:t>  Storage: None</a:t>
            </a:r>
          </a:p>
          <a:p>
            <a:pPr>
              <a:spcBef>
                <a:spcPts val="800"/>
              </a:spcBef>
              <a:defRPr sz="1500">
                <a:solidFill>
                  <a:srgbClr val="B0BEC5"/>
                </a:solidFill>
              </a:defRPr>
            </a:pPr>
            <a:r>
              <a:t>  Best for: Reusable logic</a:t>
            </a:r>
          </a:p>
          <a:p>
            <a:pPr>
              <a:spcBef>
                <a:spcPts val="800"/>
              </a:spcBef>
              <a:defRPr sz="1500">
                <a:solidFill>
                  <a:srgbClr val="B0BEC5"/>
                </a:solidFill>
              </a:defRPr>
            </a:pPr>
            <a:r>
              <a:t>  Python: @dp.view</a:t>
            </a:r>
          </a:p>
          <a:p>
            <a:pPr>
              <a:spcBef>
                <a:spcPts val="800"/>
              </a:spcBef>
              <a:defRPr sz="1500">
                <a:solidFill>
                  <a:srgbClr val="B0BEC5"/>
                </a:solidFill>
              </a:defRPr>
            </a:pPr>
            <a:r>
              <a:t>  SQL: CREATE VIEW / TEMP 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SDP: Python &amp; SQL Syntax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5669280" cy="4754880"/>
          </a:xfrm>
          <a:prstGeom prst="roundRect">
            <a:avLst/>
          </a:prstGeom>
          <a:solidFill>
            <a:srgbClr val="121518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4CAF50"/>
                </a:solidFill>
                <a:latin typeface="Courier New"/>
              </a:defRPr>
            </a:pPr>
            <a:r>
              <a:t># Python: Streaming Table (Bronze)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from pyspark import pipelines as dp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@dp.table(name="bronze_orders",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       comment="Raw orders via Auto Loader")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def bronze_orders():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 return spark.readStream.format("cloudFiles") \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     .option("cloudFiles.format", "csv") \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     .load("s3://bucket/orders")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# Python: Materialized View (Silver/Gold)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@dp.materialized_view(name="silver_stores")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def silver_stores():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 return spark.read.table("bronze_stores") \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     .select("store_id", "store_name", "city")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669280" cy="4754880"/>
          </a:xfrm>
          <a:prstGeom prst="roundRect">
            <a:avLst/>
          </a:prstGeom>
          <a:solidFill>
            <a:srgbClr val="121518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4CAF50"/>
                </a:solidFill>
                <a:latin typeface="Courier New"/>
              </a:defRPr>
            </a:pPr>
            <a:r>
              <a:t>-- SQL: Streaming Table (Bronze)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CREATE OR REFRESH STREAMING TABLE bronze_orders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COMMENT 'Raw orders via Auto Loader'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AS SELECT * FROM STREAM read_files(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's3://bucket/orders',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format =&gt; 'csv', header =&gt; true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);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-- SQL: Materialized View (Silver/Gold)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CREATE OR REFRESH MATERIALIZED VIEW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silver_stores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AS SELECT store_id, store_name, city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FROM bronze_stores;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Data Quality: Expectations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3657600" cy="201168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429EF5"/>
                </a:solidFill>
              </a:defRPr>
            </a:pPr>
            <a:r>
              <a:t>expect</a:t>
            </a:r>
          </a:p>
          <a:p>
            <a:pPr algn="ctr">
              <a:spcBef>
                <a:spcPts val="600"/>
              </a:spcBef>
              <a:defRPr sz="1400">
                <a:solidFill>
                  <a:srgbClr val="B0BEC5"/>
                </a:solidFill>
              </a:defRPr>
            </a:pPr>
            <a:r>
              <a:t>Bad records KEPT</a:t>
            </a:r>
          </a:p>
          <a:p>
            <a:pPr algn="ctr">
              <a:spcBef>
                <a:spcPts val="600"/>
              </a:spcBef>
              <a:defRPr sz="1400">
                <a:solidFill>
                  <a:srgbClr val="B0BEC5"/>
                </a:solidFill>
              </a:defRPr>
            </a:pPr>
            <a:r>
              <a:t>Pipeline continues</a:t>
            </a:r>
          </a:p>
          <a:p>
            <a:pPr algn="ctr">
              <a:spcBef>
                <a:spcPts val="600"/>
              </a:spcBef>
              <a:defRPr sz="1400">
                <a:solidFill>
                  <a:srgbClr val="B0BEC5"/>
                </a:solidFill>
              </a:defRPr>
            </a:pPr>
            <a:r>
              <a:t>Use: Monitor quality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188720"/>
            <a:ext cx="3657600" cy="201168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9800"/>
                </a:solidFill>
              </a:defRPr>
            </a:pPr>
            <a:r>
              <a:t>expect_or_drop</a:t>
            </a:r>
          </a:p>
          <a:p>
            <a:pPr algn="ctr">
              <a:spcBef>
                <a:spcPts val="600"/>
              </a:spcBef>
              <a:defRPr sz="1400">
                <a:solidFill>
                  <a:srgbClr val="B0BEC5"/>
                </a:solidFill>
              </a:defRPr>
            </a:pPr>
            <a:r>
              <a:t>Bad records DROPPED</a:t>
            </a:r>
          </a:p>
          <a:p>
            <a:pPr algn="ctr">
              <a:spcBef>
                <a:spcPts val="600"/>
              </a:spcBef>
              <a:defRPr sz="1400">
                <a:solidFill>
                  <a:srgbClr val="B0BEC5"/>
                </a:solidFill>
              </a:defRPr>
            </a:pPr>
            <a:r>
              <a:t>Pipeline continues</a:t>
            </a:r>
          </a:p>
          <a:p>
            <a:pPr algn="ctr">
              <a:spcBef>
                <a:spcPts val="600"/>
              </a:spcBef>
              <a:defRPr sz="1400">
                <a:solidFill>
                  <a:srgbClr val="B0BEC5"/>
                </a:solidFill>
              </a:defRPr>
            </a:pPr>
            <a:r>
              <a:t>Use: Filter bad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188720"/>
            <a:ext cx="3657600" cy="201168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E8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E83E3E"/>
                </a:solidFill>
              </a:defRPr>
            </a:pPr>
            <a:r>
              <a:t>expect_or_fail</a:t>
            </a:r>
          </a:p>
          <a:p>
            <a:pPr algn="ctr">
              <a:spcBef>
                <a:spcPts val="600"/>
              </a:spcBef>
              <a:defRPr sz="1400">
                <a:solidFill>
                  <a:srgbClr val="B0BEC5"/>
                </a:solidFill>
              </a:defRPr>
            </a:pPr>
            <a:r>
              <a:t>Pipeline FAILS</a:t>
            </a:r>
          </a:p>
          <a:p>
            <a:pPr algn="ctr">
              <a:spcBef>
                <a:spcPts val="600"/>
              </a:spcBef>
              <a:defRPr sz="1400">
                <a:solidFill>
                  <a:srgbClr val="B0BEC5"/>
                </a:solidFill>
              </a:defRPr>
            </a:pPr>
            <a:r>
              <a:t>Immediate halt</a:t>
            </a:r>
          </a:p>
          <a:p>
            <a:pPr algn="ctr">
              <a:spcBef>
                <a:spcPts val="600"/>
              </a:spcBef>
              <a:defRPr sz="1400">
                <a:solidFill>
                  <a:srgbClr val="B0BEC5"/>
                </a:solidFill>
              </a:defRPr>
            </a:pPr>
            <a:r>
              <a:t>Use: Hard constraints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474720"/>
            <a:ext cx="5669280" cy="2926080"/>
          </a:xfrm>
          <a:prstGeom prst="roundRect">
            <a:avLst/>
          </a:prstGeom>
          <a:solidFill>
            <a:srgbClr val="121518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4CAF50"/>
                </a:solidFill>
                <a:latin typeface="Courier New"/>
              </a:defRPr>
            </a:pPr>
            <a:r>
              <a:t># Python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@dp.table(name="silver_orders")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@dp.expect("valid_amount", "order_amount &gt; 0")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@dp.expect_or_drop("valid_rating", "customer_rating BETWEEN 1 AND 5")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@dp.expect_or_fail("valid_id", "order_id IS NOT NULL")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def silver_orders():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 return spark.read.table("bronze_orders")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474720"/>
            <a:ext cx="5669280" cy="2926080"/>
          </a:xfrm>
          <a:prstGeom prst="roundRect">
            <a:avLst/>
          </a:prstGeom>
          <a:solidFill>
            <a:srgbClr val="121518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4CAF50"/>
                </a:solidFill>
                <a:latin typeface="Courier New"/>
              </a:defRPr>
            </a:pPr>
            <a:r>
              <a:t>-- SQL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CREATE OR REFRESH STREAMING TABLE silver_orders (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CONSTRAINT valid_amount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 EXPECT (order_amount &gt; 0),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CONSTRAINT valid_rating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 EXPECT (customer_rating BETWEEN 1 AND 5)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 ON VIOLATION DROP ROW,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CONSTRAINT valid_id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 EXPECT (order_id IS NOT NULL)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 ON VIOLATION FAIL UPDATE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) AS SELECT * FROM STREAM bronze_orders;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Change Data Capture: Auto CDC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5669280" cy="3840480"/>
          </a:xfrm>
          <a:prstGeom prst="roundRect">
            <a:avLst/>
          </a:prstGeom>
          <a:solidFill>
            <a:srgbClr val="121518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4CAF50"/>
                </a:solidFill>
                <a:latin typeface="Courier New"/>
              </a:defRPr>
            </a:pPr>
            <a:r>
              <a:t># Python: Auto CDC Flow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import pyspark.sql.functions as F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from pyspark import pipelines as dp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dp.create_streaming_table(name="silver_orders",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                       comment="Orders with CDC applied")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dp.create_auto_cdc_flow(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 name="silver_orders_cdc",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 target="silver_orders",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 source="bronze_orders_staging",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 keys=["order_id"],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 sequence_by="updated_at",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 stored_as_scd_type=1,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 apply_as_deletes=F.expr("operation = 'DELETE'")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669280" cy="3840480"/>
          </a:xfrm>
          <a:prstGeom prst="roundRect">
            <a:avLst/>
          </a:prstGeom>
          <a:solidFill>
            <a:srgbClr val="121518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4CAF50"/>
                </a:solidFill>
                <a:latin typeface="Courier New"/>
              </a:defRPr>
            </a:pPr>
            <a:r>
              <a:t>-- SQL: Auto CDC Flow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CREATE OR REFRESH STREAMING TABLE silver_orders;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APPLY CHANGES INTO silver_orders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FROM bronze_orders_staging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KEYS (order_id)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SEQUENCE BY updated_at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STORED AS SCD TYPE 1;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-- SCD Type 2: tracks full history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-- STORED AS SCD TYPE 2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-- Adds: __start_at, __end_at, __is_current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212080"/>
            <a:ext cx="2743200" cy="45720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Feature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5212080"/>
            <a:ext cx="4114800" cy="45720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SCD Type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5212080"/>
            <a:ext cx="4114800" cy="45720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SCD Type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715000"/>
            <a:ext cx="27432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History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5715000"/>
            <a:ext cx="41148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No -- overwrites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5715000"/>
            <a:ext cx="41148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Yes -- full history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6217920"/>
            <a:ext cx="27432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Extra Columns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6217920"/>
            <a:ext cx="41148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None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6217920"/>
            <a:ext cx="41148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__start_at, __end_at, __is_current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6720840"/>
            <a:ext cx="27432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Storage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6720840"/>
            <a:ext cx="41148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Less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6720840"/>
            <a:ext cx="41148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More (row per version)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7223760"/>
            <a:ext cx="27432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Use Case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7223760"/>
            <a:ext cx="41148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Current state 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7223760"/>
            <a:ext cx="41148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Audit trail, historical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Pipeline DAG &amp; Key Benefits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5943600" cy="5303520"/>
          </a:xfrm>
          <a:prstGeom prst="roundRect">
            <a:avLst/>
          </a:prstGeom>
          <a:solidFill>
            <a:srgbClr val="121518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4CAF50"/>
                </a:solidFill>
                <a:latin typeface="Courier New"/>
              </a:defRPr>
            </a:pPr>
            <a:r>
              <a:t>S3: orders/           S3: stores/</a:t>
            </a:r>
          </a:p>
          <a:p>
            <a:pPr>
              <a:defRPr sz="1100">
                <a:solidFill>
                  <a:srgbClr val="4CAF50"/>
                </a:solidFill>
                <a:latin typeface="Courier New"/>
              </a:defRPr>
            </a:pPr>
            <a:r>
              <a:t>      |                     |</a:t>
            </a:r>
          </a:p>
          <a:p>
            <a:pPr>
              <a:defRPr sz="1100">
                <a:solidFill>
                  <a:srgbClr val="4CAF50"/>
                </a:solidFill>
                <a:latin typeface="Courier New"/>
              </a:defRPr>
            </a:pPr>
            <a:r>
              <a:t>      v                     v</a:t>
            </a:r>
          </a:p>
          <a:p>
            <a:pPr>
              <a:defRPr sz="1100">
                <a:solidFill>
                  <a:srgbClr val="4CAF50"/>
                </a:solidFill>
                <a:latin typeface="Courier New"/>
              </a:defRPr>
            </a:pPr>
            <a:r>
              <a:t>+--------------+    +--------------+</a:t>
            </a:r>
          </a:p>
          <a:p>
            <a:pPr>
              <a:defRPr sz="1100">
                <a:solidFill>
                  <a:srgbClr val="4CAF50"/>
                </a:solidFill>
                <a:latin typeface="Courier New"/>
              </a:defRPr>
            </a:pPr>
            <a:r>
              <a:t>| bronze.orders|    | bronze.stores|</a:t>
            </a:r>
          </a:p>
          <a:p>
            <a:pPr>
              <a:defRPr sz="1100">
                <a:solidFill>
                  <a:srgbClr val="4CAF50"/>
                </a:solidFill>
                <a:latin typeface="Courier New"/>
              </a:defRPr>
            </a:pPr>
            <a:r>
              <a:t>| (Streaming   |    | (Materialized|</a:t>
            </a:r>
          </a:p>
          <a:p>
            <a:pPr>
              <a:defRPr sz="1100">
                <a:solidFill>
                  <a:srgbClr val="4CAF50"/>
                </a:solidFill>
                <a:latin typeface="Courier New"/>
              </a:defRPr>
            </a:pPr>
            <a:r>
              <a:t>|  Table)      |    |  View)       |</a:t>
            </a:r>
          </a:p>
          <a:p>
            <a:pPr>
              <a:defRPr sz="1100">
                <a:solidFill>
                  <a:srgbClr val="4CAF50"/>
                </a:solidFill>
                <a:latin typeface="Courier New"/>
              </a:defRPr>
            </a:pPr>
            <a:r>
              <a:t>+--------------+    +--------------+</a:t>
            </a:r>
          </a:p>
          <a:p>
            <a:pPr>
              <a:defRPr sz="1100">
                <a:solidFill>
                  <a:srgbClr val="4CAF50"/>
                </a:solidFill>
                <a:latin typeface="Courier New"/>
              </a:defRPr>
            </a:pPr>
            <a:r>
              <a:t>      |                     |</a:t>
            </a:r>
          </a:p>
          <a:p>
            <a:pPr>
              <a:defRPr sz="1100">
                <a:solidFill>
                  <a:srgbClr val="4CAF50"/>
                </a:solidFill>
                <a:latin typeface="Courier New"/>
              </a:defRPr>
            </a:pPr>
            <a:r>
              <a:t>      v                     v</a:t>
            </a:r>
          </a:p>
          <a:p>
            <a:pPr>
              <a:defRPr sz="1100">
                <a:solidFill>
                  <a:srgbClr val="4CAF50"/>
                </a:solidFill>
                <a:latin typeface="Courier New"/>
              </a:defRPr>
            </a:pPr>
            <a:r>
              <a:t>+--------------+    +--------------+    +--------------+</a:t>
            </a:r>
          </a:p>
          <a:p>
            <a:pPr>
              <a:defRPr sz="1100">
                <a:solidFill>
                  <a:srgbClr val="4CAF50"/>
                </a:solidFill>
                <a:latin typeface="Courier New"/>
              </a:defRPr>
            </a:pPr>
            <a:r>
              <a:t>| silver.orders|    | silver.stores|    | silver.      |</a:t>
            </a:r>
          </a:p>
          <a:p>
            <a:pPr>
              <a:defRPr sz="1100">
                <a:solidFill>
                  <a:srgbClr val="4CAF50"/>
                </a:solidFill>
                <a:latin typeface="Courier New"/>
              </a:defRPr>
            </a:pPr>
            <a:r>
              <a:t>| (CDC Flow)   |    | (Mat. View)  |    |  calendar    |</a:t>
            </a:r>
          </a:p>
          <a:p>
            <a:pPr>
              <a:defRPr sz="1100">
                <a:solidFill>
                  <a:srgbClr val="4CAF50"/>
                </a:solidFill>
                <a:latin typeface="Courier New"/>
              </a:defRPr>
            </a:pPr>
            <a:r>
              <a:t>+--------------+    +--------------+    +--------------+</a:t>
            </a:r>
          </a:p>
          <a:p>
            <a:pPr>
              <a:defRPr sz="1100">
                <a:solidFill>
                  <a:srgbClr val="4CAF50"/>
                </a:solidFill>
                <a:latin typeface="Courier New"/>
              </a:defRPr>
            </a:pPr>
            <a:r>
              <a:t>      |                  |    |               |</a:t>
            </a:r>
          </a:p>
          <a:p>
            <a:pPr>
              <a:defRPr sz="1100">
                <a:solidFill>
                  <a:srgbClr val="4CAF50"/>
                </a:solidFill>
                <a:latin typeface="Courier New"/>
              </a:defRPr>
            </a:pPr>
            <a:r>
              <a:t>      +--------+---------+    +-------+-------+</a:t>
            </a:r>
          </a:p>
          <a:p>
            <a:pPr>
              <a:defRPr sz="1100">
                <a:solidFill>
                  <a:srgbClr val="4CAF50"/>
                </a:solidFill>
                <a:latin typeface="Courier New"/>
              </a:defRPr>
            </a:pPr>
            <a:r>
              <a:t>               |                      |</a:t>
            </a:r>
          </a:p>
          <a:p>
            <a:pPr>
              <a:defRPr sz="1100">
                <a:solidFill>
                  <a:srgbClr val="4CAF50"/>
                </a:solidFill>
                <a:latin typeface="Courier New"/>
              </a:defRPr>
            </a:pPr>
            <a:r>
              <a:t>               v                      v</a:t>
            </a:r>
          </a:p>
          <a:p>
            <a:pPr>
              <a:defRPr sz="1100">
                <a:solidFill>
                  <a:srgbClr val="4CAF50"/>
                </a:solidFill>
                <a:latin typeface="Courier New"/>
              </a:defRPr>
            </a:pPr>
            <a:r>
              <a:t>       +---------------+    +------------------+</a:t>
            </a:r>
          </a:p>
          <a:p>
            <a:pPr>
              <a:defRPr sz="1100">
                <a:solidFill>
                  <a:srgbClr val="4CAF50"/>
                </a:solidFill>
                <a:latin typeface="Courier New"/>
              </a:defRPr>
            </a:pPr>
            <a:r>
              <a:t>       | gold.fact_    |    | gold.regional_   |</a:t>
            </a:r>
          </a:p>
          <a:p>
            <a:pPr>
              <a:defRPr sz="1100">
                <a:solidFill>
                  <a:srgbClr val="4CAF50"/>
                </a:solidFill>
                <a:latin typeface="Courier New"/>
              </a:defRPr>
            </a:pPr>
            <a:r>
              <a:t>       |   orders      |    |   views          |</a:t>
            </a:r>
          </a:p>
          <a:p>
            <a:pPr>
              <a:defRPr sz="1100">
                <a:solidFill>
                  <a:srgbClr val="4CAF50"/>
                </a:solidFill>
                <a:latin typeface="Courier New"/>
              </a:defRPr>
            </a:pPr>
            <a:r>
              <a:t>       +---------------+    +------------------+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188720"/>
            <a:ext cx="2468880" cy="155448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CAF50"/>
                </a:solidFill>
              </a:defRPr>
            </a:pPr>
            <a:r>
              <a:t>Pre-Validation</a:t>
            </a:r>
          </a:p>
          <a:p>
            <a:pPr algn="ctr">
              <a:spcBef>
                <a:spcPts val="400"/>
              </a:spcBef>
              <a:defRPr sz="1200">
                <a:solidFill>
                  <a:srgbClr val="B0BEC5"/>
                </a:solidFill>
              </a:defRPr>
            </a:pPr>
            <a:r>
              <a:t>Validates entire graph</a:t>
            </a:r>
          </a:p>
          <a:p>
            <a:pPr algn="ctr">
              <a:spcBef>
                <a:spcPts val="400"/>
              </a:spcBef>
              <a:defRPr sz="1200">
                <a:solidFill>
                  <a:srgbClr val="B0BEC5"/>
                </a:solidFill>
              </a:defRPr>
            </a:pPr>
            <a:r>
              <a:t>before execution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0" y="1188720"/>
            <a:ext cx="2468880" cy="155448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CAF50"/>
                </a:solidFill>
              </a:defRPr>
            </a:pPr>
            <a:r>
              <a:t>Auto Checkpoints</a:t>
            </a:r>
          </a:p>
          <a:p>
            <a:pPr algn="ctr">
              <a:spcBef>
                <a:spcPts val="400"/>
              </a:spcBef>
              <a:defRPr sz="1200">
                <a:solidFill>
                  <a:srgbClr val="B0BEC5"/>
                </a:solidFill>
              </a:defRPr>
            </a:pPr>
            <a:r>
              <a:t>No checkpointLocation</a:t>
            </a:r>
          </a:p>
          <a:p>
            <a:pPr algn="ctr">
              <a:spcBef>
                <a:spcPts val="400"/>
              </a:spcBef>
              <a:defRPr sz="1200">
                <a:solidFill>
                  <a:srgbClr val="B0BEC5"/>
                </a:solidFill>
              </a:defRPr>
            </a:pPr>
            <a:r>
              <a:t>needed ever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3017520"/>
            <a:ext cx="2468880" cy="155448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CAF50"/>
                </a:solidFill>
              </a:defRPr>
            </a:pPr>
            <a:r>
              <a:t>Auto Parallelism</a:t>
            </a:r>
          </a:p>
          <a:p>
            <a:pPr algn="ctr">
              <a:spcBef>
                <a:spcPts val="400"/>
              </a:spcBef>
              <a:defRPr sz="1200">
                <a:solidFill>
                  <a:srgbClr val="B0BEC5"/>
                </a:solidFill>
              </a:defRPr>
            </a:pPr>
            <a:r>
              <a:t>Independent steps run</a:t>
            </a:r>
          </a:p>
          <a:p>
            <a:pPr algn="ctr">
              <a:spcBef>
                <a:spcPts val="400"/>
              </a:spcBef>
              <a:defRPr sz="1200">
                <a:solidFill>
                  <a:srgbClr val="B0BEC5"/>
                </a:solidFill>
              </a:defRPr>
            </a:pPr>
            <a:r>
              <a:t>simultaneously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3017520"/>
            <a:ext cx="2468880" cy="155448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CAF50"/>
                </a:solidFill>
              </a:defRPr>
            </a:pPr>
            <a:r>
              <a:t>Dependency Resolution</a:t>
            </a:r>
          </a:p>
          <a:p>
            <a:pPr algn="ctr">
              <a:spcBef>
                <a:spcPts val="400"/>
              </a:spcBef>
              <a:defRPr sz="1200">
                <a:solidFill>
                  <a:srgbClr val="B0BEC5"/>
                </a:solidFill>
              </a:defRPr>
            </a:pPr>
            <a:r>
              <a:t>Order discovered from</a:t>
            </a:r>
          </a:p>
          <a:p>
            <a:pPr algn="ctr">
              <a:spcBef>
                <a:spcPts val="400"/>
              </a:spcBef>
              <a:defRPr sz="1200">
                <a:solidFill>
                  <a:srgbClr val="B0BEC5"/>
                </a:solidFill>
              </a:defRPr>
            </a:pPr>
            <a:r>
              <a:t>your queries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4846320"/>
            <a:ext cx="2468880" cy="155448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CAF50"/>
                </a:solidFill>
              </a:defRPr>
            </a:pPr>
            <a:r>
              <a:t>Efficient Retries</a:t>
            </a:r>
          </a:p>
          <a:p>
            <a:pPr algn="ctr">
              <a:spcBef>
                <a:spcPts val="400"/>
              </a:spcBef>
              <a:defRPr sz="1200">
                <a:solidFill>
                  <a:srgbClr val="B0BEC5"/>
                </a:solidFill>
              </a:defRPr>
            </a:pPr>
            <a:r>
              <a:t>Only failed steps</a:t>
            </a:r>
          </a:p>
          <a:p>
            <a:pPr algn="ctr">
              <a:spcBef>
                <a:spcPts val="400"/>
              </a:spcBef>
              <a:defRPr sz="1200">
                <a:solidFill>
                  <a:srgbClr val="B0BEC5"/>
                </a:solidFill>
              </a:defRPr>
            </a:pPr>
            <a:r>
              <a:t>are retried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4846320"/>
            <a:ext cx="2468880" cy="155448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CAF50"/>
                </a:solidFill>
              </a:defRPr>
            </a:pPr>
            <a:r>
              <a:t>Event Logging</a:t>
            </a:r>
          </a:p>
          <a:p>
            <a:pPr algn="ctr">
              <a:spcBef>
                <a:spcPts val="400"/>
              </a:spcBef>
              <a:defRPr sz="1200">
                <a:solidFill>
                  <a:srgbClr val="B0BEC5"/>
                </a:solidFill>
              </a:defRPr>
            </a:pPr>
            <a:r>
              <a:t>Full audit trail</a:t>
            </a:r>
          </a:p>
          <a:p>
            <a:pPr algn="ctr">
              <a:spcBef>
                <a:spcPts val="400"/>
              </a:spcBef>
              <a:defRPr sz="1200">
                <a:solidFill>
                  <a:srgbClr val="B0BEC5"/>
                </a:solidFill>
              </a:defRPr>
            </a:pPr>
            <a:r>
              <a:t>of pipeline runs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Pipeline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29EF5"/>
                </a:solidFill>
              </a:defRPr>
            </a:pPr>
            <a:r>
              <a:t>Pipeline Modes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828800" cy="45720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554480"/>
            <a:ext cx="3657600" cy="45720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Behavior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554480"/>
            <a:ext cx="3657600" cy="45720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Best For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57400"/>
            <a:ext cx="18288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Triggered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2057400"/>
            <a:ext cx="36576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Runs once, then stops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057400"/>
            <a:ext cx="36576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Scheduled batch jobs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60320"/>
            <a:ext cx="18288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Continuous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2560320"/>
            <a:ext cx="36576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Keeps running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2560320"/>
            <a:ext cx="36576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Low-latency streaming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26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29EF5"/>
                </a:solidFill>
              </a:defRPr>
            </a:pPr>
            <a:r>
              <a:t>Development vs Production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83280"/>
            <a:ext cx="1828800" cy="45720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Setting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3383280"/>
            <a:ext cx="3657600" cy="45720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Development Mode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3383280"/>
            <a:ext cx="3657600" cy="45720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Production Mode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86200"/>
            <a:ext cx="18288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Cluster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3886200"/>
            <a:ext cx="36576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Reused across runs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3886200"/>
            <a:ext cx="36576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New cluster per run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389120"/>
            <a:ext cx="18288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Retries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4389120"/>
            <a:ext cx="36576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Disabled (fail fast)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4389120"/>
            <a:ext cx="36576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Enabled (resilient)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892040"/>
            <a:ext cx="18288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Purpose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0" y="4892040"/>
            <a:ext cx="36576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Fast iteration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4892040"/>
            <a:ext cx="36576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Reliable production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29EF5"/>
                </a:solidFill>
              </a:defRPr>
            </a:pPr>
            <a:r>
              <a:t>Cluster Modes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486400"/>
            <a:ext cx="3200400" cy="45720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Mode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0" y="5486400"/>
            <a:ext cx="5943600" cy="45720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Description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989320"/>
            <a:ext cx="32004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Fixed Size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0" y="5989320"/>
            <a:ext cx="59436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Static workers; predictable cost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6492240"/>
            <a:ext cx="32004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Enhanced Autoscaling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0" y="6492240"/>
            <a:ext cx="59436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SDP-optimized; recommended for production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6995160"/>
            <a:ext cx="32004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Legacy Autoscaling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0" y="6995160"/>
            <a:ext cx="59436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Standard Spark; compatibility only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Part 3: Lakeflow Jobs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B47BC"/>
                </a:solidFill>
              </a:defRPr>
            </a:pPr>
            <a:r>
              <a:t>Orchestrate the Entire Workflow: Schedule, Monitor, Retry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4389120"/>
            <a:ext cx="2103120" cy="54864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Multi-Task Job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29EF5"/>
                </a:solidFill>
              </a:defRPr>
            </a:pPr>
            <a:r>
              <a:t>Supported Task Types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2103120" cy="50292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0BEC5"/>
                </a:solidFill>
              </a:defRPr>
            </a:pPr>
            <a:r>
              <a:t>Notebook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737360"/>
            <a:ext cx="2103120" cy="50292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0BEC5"/>
                </a:solidFill>
              </a:defRPr>
            </a:pPr>
            <a:r>
              <a:t>SDP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737360"/>
            <a:ext cx="2103120" cy="50292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0BEC5"/>
                </a:solidFill>
              </a:defRPr>
            </a:pPr>
            <a:r>
              <a:t>SQL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737360"/>
            <a:ext cx="2103120" cy="50292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0BEC5"/>
                </a:solidFill>
              </a:defRPr>
            </a:pPr>
            <a:r>
              <a:t>Python Script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1737360"/>
            <a:ext cx="2103120" cy="50292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0BEC5"/>
                </a:solidFill>
              </a:defRPr>
            </a:pPr>
            <a:r>
              <a:t>JAR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31720"/>
            <a:ext cx="2103120" cy="50292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0BEC5"/>
                </a:solidFill>
              </a:defRPr>
            </a:pPr>
            <a:r>
              <a:t>dbt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331720"/>
            <a:ext cx="2103120" cy="50292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0BEC5"/>
                </a:solidFill>
              </a:defRPr>
            </a:pPr>
            <a:r>
              <a:t>Spark Submit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2331720"/>
            <a:ext cx="2103120" cy="50292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0BEC5"/>
                </a:solidFill>
              </a:defRPr>
            </a:pPr>
            <a:r>
              <a:t>Run Job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331720"/>
            <a:ext cx="2103120" cy="50292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0BEC5"/>
                </a:solidFill>
              </a:defRPr>
            </a:pPr>
            <a:r>
              <a:t>If/Else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2331720"/>
            <a:ext cx="2103120" cy="50292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0BEC5"/>
                </a:solidFill>
              </a:defRPr>
            </a:pPr>
            <a:r>
              <a:t>For Each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29EF5"/>
                </a:solidFill>
              </a:defRPr>
            </a:pPr>
            <a:r>
              <a:t>DAG Patterns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840480"/>
            <a:ext cx="11612880" cy="2743200"/>
          </a:xfrm>
          <a:prstGeom prst="roundRect">
            <a:avLst/>
          </a:prstGeom>
          <a:solidFill>
            <a:srgbClr val="121518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4CAF50"/>
                </a:solidFill>
                <a:latin typeface="Courier New"/>
              </a:defRPr>
            </a:pPr>
            <a:r>
              <a:t>Pattern 1: Linear            Pattern 2: Fan-Out / Fan-In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A --&gt; B --&gt; C                         +-&gt; B (US) --+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                           A ------+-&gt; C (EU) --+-&gt; E (aggregate)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                                   +-&gt; D (APAC)-+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Pattern 3: Conditional        Pattern 4: End-to-End Lakeflow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      +-- success --&gt; B    Task 1: Connect --&gt; Task 2: SDP Pipeline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A -------+                                             |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      +-- failure --&gt; C            +----------------+-----------+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                                   |                           |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                             Task 3: SQL Report        Task 4: Notify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Trigger Modes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828800" cy="45720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097280"/>
            <a:ext cx="2743200" cy="45720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When It Runs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097280"/>
            <a:ext cx="3200400" cy="45720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Best For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097280"/>
            <a:ext cx="3200400" cy="45720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Configuration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18288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Manual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600200"/>
            <a:ext cx="27432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On-demand (UI/API/CLI)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600200"/>
            <a:ext cx="32004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Ad-hoc, testing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600200"/>
            <a:ext cx="32004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No trigger needed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03120"/>
            <a:ext cx="18288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Scheduled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2103120"/>
            <a:ext cx="27432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Cron-based schedule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103120"/>
            <a:ext cx="32004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Nightly ETL, hourly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103120"/>
            <a:ext cx="32004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Cron + timezone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606040"/>
            <a:ext cx="18288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Continuous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2606040"/>
            <a:ext cx="27432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After previous run ends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2606040"/>
            <a:ext cx="32004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Near-real-time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2606040"/>
            <a:ext cx="32004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continuous flag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108960"/>
            <a:ext cx="18288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File Arrival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3108960"/>
            <a:ext cx="27432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New files in storage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3108960"/>
            <a:ext cx="32004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Event-driven ingestion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3108960"/>
            <a:ext cx="32004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S3/ADLS path + wait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566160"/>
            <a:ext cx="11247120" cy="2926080"/>
          </a:xfrm>
          <a:prstGeom prst="roundRect">
            <a:avLst/>
          </a:prstGeom>
          <a:solidFill>
            <a:srgbClr val="121518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4CAF50"/>
                </a:solidFill>
                <a:latin typeface="Courier New"/>
              </a:defRPr>
            </a:pPr>
            <a:r>
              <a:t># Cron examples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0 0 2 * * ?      # Every day at 2 AM UTC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0 0 * * * 1-5    # Every hour on weekdays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0 */15 * * * ?   # Every 15 minutes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# File Arrival Trigger: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Path:       s3://ecommerce-lakehouse/raw/orders/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Min files:  1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Wait time:  60 seconds (debounce period)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# Continuous Trigger:</a:t>
            </a:r>
          </a:p>
          <a:p>
            <a:pPr>
              <a:defRPr sz="1400">
                <a:solidFill>
                  <a:srgbClr val="4CAF50"/>
                </a:solidFill>
                <a:latin typeface="Courier New"/>
              </a:defRPr>
            </a:pPr>
            <a:r>
              <a:t>Run 1 starts -&gt; Run 1 ends -&gt; Run 2 starts -&gt; Run 2 ends -&gt; ...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Repair Runs: Re-run Only Failed Tasks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2560320"/>
          </a:xfrm>
          <a:prstGeom prst="roundRect">
            <a:avLst/>
          </a:prstGeom>
          <a:solidFill>
            <a:srgbClr val="121518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4CAF50"/>
                </a:solidFill>
                <a:latin typeface="Courier New"/>
              </a:defRPr>
            </a:pPr>
            <a:r>
              <a:t>Original Run:                              Repair Run:</a:t>
            </a:r>
          </a:p>
          <a:p>
            <a:pPr>
              <a:defRPr sz="1500">
                <a:solidFill>
                  <a:srgbClr val="4CAF50"/>
                </a:solidFill>
                <a:latin typeface="Courier New"/>
              </a:defRPr>
            </a:pPr>
            <a:r>
              <a:t>  Task A (ingest)     -- SUCCESS (30 min)    Task A -- SKIPPED (reuses result)</a:t>
            </a:r>
          </a:p>
          <a:p>
            <a:pPr>
              <a:defRPr sz="1500">
                <a:solidFill>
                  <a:srgbClr val="4CAF50"/>
                </a:solidFill>
                <a:latin typeface="Courier New"/>
              </a:defRPr>
            </a:pPr>
            <a:r>
              <a:t>  Task B (transform)  -- SUCCESS (45 min)    Task B -- SKIPPED (reuses result)</a:t>
            </a:r>
          </a:p>
          <a:p>
            <a:pPr>
              <a:defRPr sz="1500">
                <a:solidFill>
                  <a:srgbClr val="4CAF50"/>
                </a:solidFill>
                <a:latin typeface="Courier New"/>
              </a:defRPr>
            </a:pPr>
            <a:r>
              <a:t>  Task C (aggregate)  -- FAILED  (10 min)    Task C -- RE-RUN  (after fix)</a:t>
            </a:r>
          </a:p>
          <a:p>
            <a:pPr>
              <a:defRPr sz="1500">
                <a:solidFill>
                  <a:srgbClr val="4CAF50"/>
                </a:solidFill>
                <a:latin typeface="Courier New"/>
              </a:defRPr>
            </a:pPr>
            <a:r>
              <a:t>  Task D (report)     -- SKIPPED             Task D -- RE-RUN  (depends on C)</a:t>
            </a:r>
          </a:p>
          <a:p>
            <a:pPr>
              <a:defRPr sz="1500">
                <a:solidFill>
                  <a:srgbClr val="4CAF50"/>
                </a:solidFill>
                <a:latin typeface="Courier New"/>
              </a:defRPr>
            </a:pPr>
          </a:p>
          <a:p>
            <a:pPr>
              <a:defRPr sz="1500">
                <a:solidFill>
                  <a:srgbClr val="4CAF50"/>
                </a:solidFill>
                <a:latin typeface="Courier New"/>
              </a:defRPr>
            </a:pPr>
            <a:r>
              <a:t>  Total: 85 min wasted                       Total: only ~15 min to repair!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defRPr sz="1700">
                <a:solidFill>
                  <a:srgbClr val="B0BEC5"/>
                </a:solidFill>
              </a:defRPr>
            </a:pPr>
            <a:r>
              <a:t>  Saves significant compute time and cost</a:t>
            </a:r>
          </a:p>
          <a:p>
            <a:pPr>
              <a:spcBef>
                <a:spcPts val="800"/>
              </a:spcBef>
              <a:defRPr sz="1700">
                <a:solidFill>
                  <a:srgbClr val="B0BEC5"/>
                </a:solidFill>
              </a:defRPr>
            </a:pPr>
            <a:r>
              <a:t>  Only failed tasks and their downstream dependencies are re-executed</a:t>
            </a:r>
          </a:p>
          <a:p>
            <a:pPr>
              <a:spcBef>
                <a:spcPts val="800"/>
              </a:spcBef>
              <a:defRPr sz="1700">
                <a:solidFill>
                  <a:srgbClr val="B0BEC5"/>
                </a:solidFill>
              </a:defRPr>
            </a:pPr>
            <a:r>
              <a:t>  Successful tasks reuse their previous results</a:t>
            </a:r>
          </a:p>
          <a:p>
            <a:pPr>
              <a:spcBef>
                <a:spcPts val="800"/>
              </a:spcBef>
              <a:defRPr sz="1700">
                <a:solidFill>
                  <a:srgbClr val="B0BEC5"/>
                </a:solidFill>
              </a:defRPr>
            </a:pPr>
            <a:r>
              <a:t>  No need to re-run the entire pipeline from scratch</a:t>
            </a:r>
          </a:p>
          <a:p>
            <a:pPr>
              <a:spcBef>
                <a:spcPts val="800"/>
              </a:spcBef>
              <a:defRPr sz="1700">
                <a:solidFill>
                  <a:srgbClr val="B0BEC5"/>
                </a:solidFill>
              </a:defRPr>
            </a:pPr>
            <a:r>
              <a:t>  Available via UI (Repair Run button) or API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Cluster Strategies &amp; RBAC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29EF5"/>
                </a:solidFill>
              </a:defRPr>
            </a:pPr>
            <a:r>
              <a:t>Cluster Strategies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743200" cy="45720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Strategy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463040"/>
            <a:ext cx="1371600" cy="45720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463040"/>
            <a:ext cx="5029200" cy="45720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Use Case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65960"/>
            <a:ext cx="27432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Job cluster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965960"/>
            <a:ext cx="13716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965960"/>
            <a:ext cx="50292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Production batch jobs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68880"/>
            <a:ext cx="27432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Shared job cluster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2468880"/>
            <a:ext cx="13716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Medium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468880"/>
            <a:ext cx="50292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Multi-task same compute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971800"/>
            <a:ext cx="27432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All-purpose cluster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2971800"/>
            <a:ext cx="13716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High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2971800"/>
            <a:ext cx="50292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Development / debugging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474720"/>
            <a:ext cx="27432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Serverless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3474720"/>
            <a:ext cx="13716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Variable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3474720"/>
            <a:ext cx="50292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No management overhead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29EF5"/>
                </a:solidFill>
              </a:defRPr>
            </a:pPr>
            <a:r>
              <a:t>RBAC Permissions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389120"/>
            <a:ext cx="2743200" cy="45720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Permission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0" y="4389120"/>
            <a:ext cx="6400800" cy="457200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Capabilities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892040"/>
            <a:ext cx="27432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Can 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0" y="4892040"/>
            <a:ext cx="64008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See config and run history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394960"/>
            <a:ext cx="27432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Can Manage Run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0" y="5394960"/>
            <a:ext cx="64008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View + trigger/cancel runs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897880"/>
            <a:ext cx="27432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Can Manage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0" y="5897880"/>
            <a:ext cx="64008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Full control: edit, delete, permissions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6400800"/>
            <a:ext cx="27432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Is Owner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0" y="6400800"/>
            <a:ext cx="6400800" cy="457200"/>
          </a:xfrm>
          <a:prstGeom prst="roundRect">
            <a:avLst/>
          </a:prstGeom>
          <a:solidFill>
            <a:srgbClr val="23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0BEC5"/>
                </a:solidFill>
              </a:defRPr>
            </a:pPr>
            <a:r>
              <a:t>Manage + transfer ownership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Databricks Asset Bundles (DAB)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9EF5"/>
                </a:solidFill>
              </a:defRPr>
            </a:pPr>
            <a:r>
              <a:t>CI/CD for Databricks: Jobs defined as code, deployed across environments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645920"/>
            <a:ext cx="5669280" cy="4114800"/>
          </a:xfrm>
          <a:prstGeom prst="roundRect">
            <a:avLst/>
          </a:prstGeom>
          <a:solidFill>
            <a:srgbClr val="121518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4CAF50"/>
                </a:solidFill>
                <a:latin typeface="Courier New"/>
              </a:defRPr>
            </a:pPr>
            <a:r>
              <a:t>my-project/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+-- databricks.yml        # Main configuration (YAML)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+-- resources/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|   +-- job_config.yml    # Job definitions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+-- src/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|   +-- ingest_orders.py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|   +-- transform.py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+-- tests/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 +-- test_pipeline.py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# Key CLI Commands: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databricks bundle init                   # Initialize project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databricks bundle validate               # Validate config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databricks bundle deploy --target dev    # Deploy to dev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databricks bundle deploy --target prod   # Deploy to prod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databricks bundle run my_job --target dev  # Run a job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669280" cy="4114800"/>
          </a:xfrm>
          <a:prstGeom prst="roundRect">
            <a:avLst/>
          </a:prstGeom>
          <a:solidFill>
            <a:srgbClr val="121518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4CAF50"/>
                </a:solidFill>
                <a:latin typeface="Courier New"/>
              </a:defRPr>
            </a:pPr>
            <a:r>
              <a:t># databricks.yml -- Environment Targets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targets: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dev: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 workspace: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   host: https://dbc-abc123.cloud.databricks.com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 default: true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staging: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 workspace: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   host: https://dbc-def456.cloud.databricks.com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prod: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 workspace: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   host: https://dbc-ghi789.cloud.databricks.com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 run_as:</a:t>
            </a:r>
          </a:p>
          <a:p>
            <a:pPr>
              <a:defRPr sz="1300">
                <a:solidFill>
                  <a:srgbClr val="4CAF50"/>
                </a:solidFill>
                <a:latin typeface="Courier New"/>
              </a:defRPr>
            </a:pPr>
            <a:r>
              <a:t>      service_principal_name: "prod-sp"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5943600"/>
            <a:ext cx="5669280" cy="64008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E8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E83E3E"/>
                </a:solidFill>
              </a:defRPr>
            </a:pPr>
            <a:r>
              <a:t>Without DAB: </a:t>
            </a:r>
            <a:r>
              <a:rPr sz="1300">
                <a:solidFill>
                  <a:srgbClr val="B0BEC5"/>
                </a:solidFill>
              </a:rPr>
              <a:t>Manual UI job creation, copy/paste between envs, no version 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943600"/>
            <a:ext cx="5669280" cy="64008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4CAF50"/>
                </a:solidFill>
              </a:defRPr>
            </a:pPr>
            <a:r>
              <a:t>With DAB: </a:t>
            </a:r>
            <a:r>
              <a:rPr sz="1300">
                <a:solidFill>
                  <a:srgbClr val="B0BEC5"/>
                </a:solidFill>
              </a:rPr>
              <a:t>Jobs as code, automated deployment, full git history, pre-validated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End-to-End Lakeflow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1097280"/>
            <a:ext cx="11795760" cy="5303520"/>
          </a:xfrm>
          <a:prstGeom prst="roundRect">
            <a:avLst/>
          </a:prstGeom>
          <a:solidFill>
            <a:srgbClr val="121518"/>
          </a:solidFill>
          <a:ln w="19050">
            <a:solidFill>
              <a:srgbClr val="429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4CAF50"/>
                </a:solidFill>
                <a:latin typeface="Courier New"/>
              </a:defRPr>
            </a:pPr>
            <a:r>
              <a:t>LAKEFLOW JOBS (Orchestration Layer)</a:t>
            </a:r>
          </a:p>
          <a:p>
            <a:pPr>
              <a:defRPr sz="1200">
                <a:solidFill>
                  <a:srgbClr val="4CAF50"/>
                </a:solidFill>
                <a:latin typeface="Courier New"/>
              </a:defRPr>
            </a:pPr>
            <a:r>
              <a:t>  ┌─────────────────────────────────────────────────────────────────────────┐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defRPr sz="1200">
                <a:solidFill>
                  <a:srgbClr val="4CAF50"/>
                </a:solidFill>
                <a:latin typeface="Courier New"/>
              </a:defRPr>
            </a:pPr>
            <a:r>
              <a:t>  │                                                                         │</a:t>
            </a:r>
          </a:p>
          <a:p>
            <a:pPr>
              <a:defRPr sz="1200">
                <a:solidFill>
                  <a:srgbClr val="4CAF50"/>
                </a:solidFill>
                <a:latin typeface="Courier New"/>
              </a:defRPr>
            </a:pPr>
            <a:r>
              <a:t>  │   Task 1: CONNECT               Task 2: SDP PIPELINE                   │</a:t>
            </a:r>
          </a:p>
          <a:p>
            <a:pPr>
              <a:defRPr sz="1200">
                <a:solidFill>
                  <a:srgbClr val="4CAF50"/>
                </a:solidFill>
                <a:latin typeface="Courier New"/>
              </a:defRPr>
            </a:pPr>
            <a:r>
              <a:t>  │   ┌───────────────────┐         ┌────────────────────────────────┐     │</a:t>
            </a:r>
          </a:p>
          <a:p>
            <a:pPr>
              <a:defRPr sz="1200">
                <a:solidFill>
                  <a:srgbClr val="4CAF50"/>
                </a:solidFill>
                <a:latin typeface="Courier New"/>
              </a:defRPr>
            </a:pPr>
            <a:r>
              <a:t>  │   │ Auto Loader       │         │ bronze_orders (Streaming Table)│     │</a:t>
            </a:r>
          </a:p>
          <a:p>
            <a:pPr>
              <a:defRPr sz="1200">
                <a:solidFill>
                  <a:srgbClr val="4CAF50"/>
                </a:solidFill>
                <a:latin typeface="Courier New"/>
              </a:defRPr>
            </a:pPr>
            <a:r>
              <a:t>  │   │ S3 -&gt; Bronze      │ ──────&gt; │ silver_orders (CDC + Expects)  │     │</a:t>
            </a:r>
          </a:p>
          <a:p>
            <a:pPr>
              <a:defRPr sz="1200">
                <a:solidFill>
                  <a:srgbClr val="4CAF50"/>
                </a:solidFill>
                <a:latin typeface="Courier New"/>
              </a:defRPr>
            </a:pPr>
            <a:r>
              <a:t>  │   │                   │         │ gold_summary  (Mat. View)      │     │</a:t>
            </a:r>
          </a:p>
          <a:p>
            <a:pPr>
              <a:defRPr sz="1200">
                <a:solidFill>
                  <a:srgbClr val="4CAF50"/>
                </a:solidFill>
                <a:latin typeface="Courier New"/>
              </a:defRPr>
            </a:pPr>
            <a:r>
              <a:t>  │   └───────────────────┘         └────────────────────────────────┘     │</a:t>
            </a:r>
          </a:p>
          <a:p>
            <a:pPr>
              <a:defRPr sz="1200">
                <a:solidFill>
                  <a:srgbClr val="4CAF50"/>
                </a:solidFill>
                <a:latin typeface="Courier New"/>
              </a:defRPr>
            </a:pPr>
            <a:r>
              <a:t>  │                                          │                              │</a:t>
            </a:r>
          </a:p>
          <a:p>
            <a:pPr>
              <a:defRPr sz="1200">
                <a:solidFill>
                  <a:srgbClr val="4CAF50"/>
                </a:solidFill>
                <a:latin typeface="Courier New"/>
              </a:defRPr>
            </a:pPr>
            <a:r>
              <a:t>  │                              ┌───────────┴──────────┐                  │</a:t>
            </a:r>
          </a:p>
          <a:p>
            <a:pPr>
              <a:defRPr sz="1200">
                <a:solidFill>
                  <a:srgbClr val="4CAF50"/>
                </a:solidFill>
                <a:latin typeface="Courier New"/>
              </a:defRPr>
            </a:pPr>
            <a:r>
              <a:t>  │                              │                      │                  │</a:t>
            </a:r>
          </a:p>
          <a:p>
            <a:pPr>
              <a:defRPr sz="1200">
                <a:solidFill>
                  <a:srgbClr val="4CAF50"/>
                </a:solidFill>
                <a:latin typeface="Courier New"/>
              </a:defRPr>
            </a:pPr>
            <a:r>
              <a:t>  │                    Task 3: SQL Report      Task 4: Python Notify       │</a:t>
            </a:r>
          </a:p>
          <a:p>
            <a:pPr>
              <a:defRPr sz="1200">
                <a:solidFill>
                  <a:srgbClr val="4CAF50"/>
                </a:solidFill>
                <a:latin typeface="Courier New"/>
              </a:defRPr>
            </a:pPr>
            <a:r>
              <a:t>  │                    ┌────────────────┐      ┌──────────────────┐       │</a:t>
            </a:r>
          </a:p>
          <a:p>
            <a:pPr>
              <a:defRPr sz="1200">
                <a:solidFill>
                  <a:srgbClr val="4CAF50"/>
                </a:solidFill>
                <a:latin typeface="Courier New"/>
              </a:defRPr>
            </a:pPr>
            <a:r>
              <a:t>  │                    │ Daily revenue  │      │ Slack + email    │       │</a:t>
            </a:r>
          </a:p>
          <a:p>
            <a:pPr>
              <a:defRPr sz="1200">
                <a:solidFill>
                  <a:srgbClr val="4CAF50"/>
                </a:solidFill>
                <a:latin typeface="Courier New"/>
              </a:defRPr>
            </a:pPr>
            <a:r>
              <a:t>  │                    │ aggregation    │      │ notification     │       │</a:t>
            </a:r>
          </a:p>
          <a:p>
            <a:pPr>
              <a:defRPr sz="1200">
                <a:solidFill>
                  <a:srgbClr val="4CAF50"/>
                </a:solidFill>
                <a:latin typeface="Courier New"/>
              </a:defRPr>
            </a:pPr>
            <a:r>
              <a:t>  │                    └────────────────┘      └──────────────────┘       │</a:t>
            </a:r>
          </a:p>
          <a:p>
            <a:pPr>
              <a:defRPr sz="1200">
                <a:solidFill>
                  <a:srgbClr val="4CAF50"/>
                </a:solidFill>
                <a:latin typeface="Courier New"/>
              </a:defRPr>
            </a:pPr>
            <a:r>
              <a:t>  │                                                                         │</a:t>
            </a:r>
          </a:p>
          <a:p>
            <a:pPr>
              <a:defRPr sz="1200">
                <a:solidFill>
                  <a:srgbClr val="4CAF50"/>
                </a:solidFill>
                <a:latin typeface="Courier New"/>
              </a:defRPr>
            </a:pPr>
            <a:r>
              <a:t>  │   Trigger: Scheduled (daily 2 AM)  |  Retry: 3 attempts per task      │</a:t>
            </a:r>
          </a:p>
          <a:p>
            <a:pPr>
              <a:defRPr sz="1200">
                <a:solidFill>
                  <a:srgbClr val="4CAF50"/>
                </a:solidFill>
                <a:latin typeface="Courier New"/>
              </a:defRPr>
            </a:pPr>
            <a:r>
              <a:t>  │   Cluster: Job cluster (auto-term) |  Alerts: on_failure -&gt; Slack     │</a:t>
            </a:r>
          </a:p>
          <a:p>
            <a:pPr>
              <a:defRPr sz="1200">
                <a:solidFill>
                  <a:srgbClr val="4CAF50"/>
                </a:solidFill>
                <a:latin typeface="Courier New"/>
              </a:defRPr>
            </a:pPr>
            <a:r>
              <a:t>  └─────────────────────────────────────────────────────────────────────────┘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Certification Tips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3657600" cy="502920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9800"/>
                </a:solidFill>
              </a:defRPr>
            </a:pPr>
            <a:r>
              <a:t>Lakeflow Connect</a:t>
            </a:r>
          </a:p>
          <a:p/>
          <a:p>
            <a:pPr>
              <a:spcBef>
                <a:spcPts val="800"/>
              </a:spcBef>
              <a:defRPr sz="1400">
                <a:solidFill>
                  <a:srgbClr val="B0BEC5"/>
                </a:solidFill>
              </a:defRPr>
            </a:pPr>
            <a:r>
              <a:t>  Know the 3 ingestion types: Manual, Standard, Managed</a:t>
            </a:r>
          </a:p>
          <a:p>
            <a:pPr>
              <a:spcBef>
                <a:spcPts val="800"/>
              </a:spcBef>
              <a:defRPr sz="1400">
                <a:solidFill>
                  <a:srgbClr val="B0BEC5"/>
                </a:solidFill>
              </a:defRPr>
            </a:pPr>
            <a:r>
              <a:t>  Auto Loader = standard connector for cloud files</a:t>
            </a:r>
          </a:p>
          <a:p>
            <a:pPr>
              <a:spcBef>
                <a:spcPts val="800"/>
              </a:spcBef>
              <a:defRPr sz="1400">
                <a:solidFill>
                  <a:srgbClr val="B0BEC5"/>
                </a:solidFill>
              </a:defRPr>
            </a:pPr>
            <a:r>
              <a:t>  Managed Connectors: serverless, no-code, CDC-based</a:t>
            </a:r>
          </a:p>
          <a:p>
            <a:pPr>
              <a:spcBef>
                <a:spcPts val="800"/>
              </a:spcBef>
              <a:defRPr sz="1400">
                <a:solidFill>
                  <a:srgbClr val="B0BEC5"/>
                </a:solidFill>
              </a:defRPr>
            </a:pPr>
            <a:r>
              <a:t>  SQL: CREATE CONNECTION + CREATE STREAMING 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188720"/>
            <a:ext cx="3657600" cy="502920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4CAF50"/>
                </a:solidFill>
              </a:defRPr>
            </a:pPr>
            <a:r>
              <a:t>Spark Declarative Pipelines</a:t>
            </a:r>
          </a:p>
          <a:p/>
          <a:p>
            <a:pPr>
              <a:spcBef>
                <a:spcPts val="800"/>
              </a:spcBef>
              <a:defRPr sz="1400">
                <a:solidFill>
                  <a:srgbClr val="B0BEC5"/>
                </a:solidFill>
              </a:defRPr>
            </a:pPr>
            <a:r>
              <a:t>  3 enforcement levels: expect, expect_or_drop, expect_or_fail</a:t>
            </a:r>
          </a:p>
          <a:p>
            <a:pPr>
              <a:spcBef>
                <a:spcPts val="800"/>
              </a:spcBef>
              <a:defRPr sz="1400">
                <a:solidFill>
                  <a:srgbClr val="B0BEC5"/>
                </a:solidFill>
              </a:defRPr>
            </a:pPr>
            <a:r>
              <a:t>  Streaming Table vs Materialized View: when to use each</a:t>
            </a:r>
          </a:p>
          <a:p>
            <a:pPr>
              <a:spcBef>
                <a:spcPts val="800"/>
              </a:spcBef>
              <a:defRPr sz="1400">
                <a:solidFill>
                  <a:srgbClr val="B0BEC5"/>
                </a:solidFill>
              </a:defRPr>
            </a:pPr>
            <a:r>
              <a:t>  Auto CDC: KEYS, SEQUENCE BY, SCD Type 1 vs 2</a:t>
            </a:r>
          </a:p>
          <a:p>
            <a:pPr>
              <a:spcBef>
                <a:spcPts val="800"/>
              </a:spcBef>
              <a:defRPr sz="1400">
                <a:solidFill>
                  <a:srgbClr val="B0BEC5"/>
                </a:solidFill>
              </a:defRPr>
            </a:pPr>
            <a:r>
              <a:t>  Pipeline modes: Triggered vs Continuous, Dev vs Prod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188720"/>
            <a:ext cx="3657600" cy="5029200"/>
          </a:xfrm>
          <a:prstGeom prst="roundRect">
            <a:avLst/>
          </a:prstGeom>
          <a:solidFill>
            <a:srgbClr val="23292E"/>
          </a:solidFill>
          <a:ln w="1905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AB47BC"/>
                </a:solidFill>
              </a:defRPr>
            </a:pPr>
            <a:r>
              <a:t>Lakeflow Jobs</a:t>
            </a:r>
          </a:p>
          <a:p/>
          <a:p>
            <a:pPr>
              <a:spcBef>
                <a:spcPts val="800"/>
              </a:spcBef>
              <a:defRPr sz="1400">
                <a:solidFill>
                  <a:srgbClr val="B0BEC5"/>
                </a:solidFill>
              </a:defRPr>
            </a:pPr>
            <a:r>
              <a:t>  DAG patterns: linear, fan-out/fan-in, conditional</a:t>
            </a:r>
          </a:p>
          <a:p>
            <a:pPr>
              <a:spcBef>
                <a:spcPts val="800"/>
              </a:spcBef>
              <a:defRPr sz="1400">
                <a:solidFill>
                  <a:srgbClr val="B0BEC5"/>
                </a:solidFill>
              </a:defRPr>
            </a:pPr>
            <a:r>
              <a:t>  Repair runs: only failed + downstream re-executed</a:t>
            </a:r>
          </a:p>
          <a:p>
            <a:pPr>
              <a:spcBef>
                <a:spcPts val="800"/>
              </a:spcBef>
              <a:defRPr sz="1400">
                <a:solidFill>
                  <a:srgbClr val="B0BEC5"/>
                </a:solidFill>
              </a:defRPr>
            </a:pPr>
            <a:r>
              <a:t>  4 trigger modes: manual, cron, continuous, file arrival</a:t>
            </a:r>
          </a:p>
          <a:p>
            <a:pPr>
              <a:spcBef>
                <a:spcPts val="800"/>
              </a:spcBef>
              <a:defRPr sz="1400">
                <a:solidFill>
                  <a:srgbClr val="B0BEC5"/>
                </a:solidFill>
              </a:defRPr>
            </a:pPr>
            <a:r>
              <a:t>  DAB commands: bundle validate, deploy, run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429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57200" cy="4572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</a:defRPr>
            </a:pPr>
            <a:r>
              <a:t>Lakeflow has 3 components: Connect (ingest), SDP (transform), Jobs (orchestrate)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64792"/>
            <a:ext cx="457200" cy="4572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6479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</a:defRPr>
            </a:pPr>
            <a:r>
              <a:t>Connect offers Manual Upload, Standard Connectors (Auto Loader, JDBC, Kafka), and Managed Connectors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32304"/>
            <a:ext cx="457200" cy="4572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3230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</a:defRPr>
            </a:pPr>
            <a:r>
              <a:t>SDP is declarative: define WHAT, framework handles sequencing, parallelism, retries, checkpoints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99815"/>
            <a:ext cx="457200" cy="4572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099815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</a:defRPr>
            </a:pPr>
            <a:r>
              <a:t>Three dataset types: Streaming Table (append), Materialized View (recompute), View (no storage)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67328"/>
            <a:ext cx="457200" cy="4572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6732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</a:defRPr>
            </a:pPr>
            <a:r>
              <a:t>Expectations enforce data quality: expect (monitor), expect_or_drop (filter), expect_or_fail (halt)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434840"/>
            <a:ext cx="457200" cy="4572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34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</a:defRPr>
            </a:pPr>
            <a:r>
              <a:t>Auto CDC Flow replaces manual MERGE with declarative SCD Type 1 and Type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102352"/>
            <a:ext cx="457200" cy="457200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10235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</a:defRPr>
            </a:pPr>
            <a:r>
              <a:t>Jobs supports multi-task DAGs with repair runs (re-run only failed tasks)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769864"/>
            <a:ext cx="457200" cy="457200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76986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</a:defRPr>
            </a:pPr>
            <a:r>
              <a:t>DAB brings CI/CD: jobs as code, automated deployment across dev/staging/prod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29EF5"/>
                </a:solidFill>
              </a:defRPr>
            </a:pPr>
            <a:r>
              <a:t>Next: Day 25 -- SCD Type 2 Pipelines  |  Day 26 -- Performance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4389120"/>
            <a:ext cx="2103120" cy="54864"/>
          </a:xfrm>
          <a:prstGeom prst="round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EC5"/>
                </a:solidFill>
              </a:defRPr>
            </a:pPr>
            <a:r>
              <a:t>Spark Databricks Zero-to-Pro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