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Unity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29EF5"/>
                </a:solidFill>
              </a:defRPr>
            </a:pPr>
            <a:r>
              <a:t>Fundamentals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</a:defRPr>
            </a:pPr>
            <a:r>
              <a:t>Centralized Governance for Data &amp; AI on Databricks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4754880"/>
            <a:ext cx="2103120" cy="54864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</a:defRPr>
            </a:pPr>
            <a:r>
              <a:t>Spark Databricks Zero-to-Pro  |  Day 10 &amp;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FF9800"/>
                </a:solidFill>
              </a:defRPr>
            </a:pPr>
            <a:r>
              <a:t>Part 1: Unity Catalog Fundamentals</a:t>
            </a:r>
          </a:p>
          <a:p>
            <a:pPr>
              <a:spcBef>
                <a:spcPts val="600"/>
              </a:spcBef>
              <a:defRPr sz="1600" b="0">
                <a:solidFill>
                  <a:srgbClr val="B0BEC5"/>
                </a:solidFill>
              </a:defRPr>
            </a:pPr>
            <a:r>
              <a:t>  What is Unity Catalog?</a:t>
            </a:r>
          </a:p>
          <a:p>
            <a:pPr>
              <a:spcBef>
                <a:spcPts val="600"/>
              </a:spcBef>
              <a:defRPr sz="1600" b="0">
                <a:solidFill>
                  <a:srgbClr val="B0BEC5"/>
                </a:solidFill>
              </a:defRPr>
            </a:pPr>
            <a:r>
              <a:t>  3-Level Namespace</a:t>
            </a:r>
          </a:p>
          <a:p>
            <a:pPr>
              <a:spcBef>
                <a:spcPts val="600"/>
              </a:spcBef>
              <a:defRPr sz="1600" b="0">
                <a:solidFill>
                  <a:srgbClr val="B0BEC5"/>
                </a:solidFill>
              </a:defRPr>
            </a:pPr>
            <a:r>
              <a:t>  Metastore Architecture</a:t>
            </a:r>
          </a:p>
          <a:p>
            <a:pPr>
              <a:spcBef>
                <a:spcPts val="600"/>
              </a:spcBef>
              <a:defRPr sz="1600" b="0">
                <a:solidFill>
                  <a:srgbClr val="B0BEC5"/>
                </a:solidFill>
              </a:defRPr>
            </a:pPr>
            <a:r>
              <a:t>  Managed Storage</a:t>
            </a:r>
          </a:p>
          <a:p>
            <a:pPr>
              <a:spcBef>
                <a:spcPts val="600"/>
              </a:spcBef>
              <a:defRPr sz="1600" b="0">
                <a:solidFill>
                  <a:srgbClr val="B0BEC5"/>
                </a:solidFill>
              </a:defRPr>
            </a:pPr>
            <a:r>
              <a:t>  Volumes for File Governance</a:t>
            </a:r>
          </a:p>
          <a:p>
            <a:pPr>
              <a:spcBef>
                <a:spcPts val="600"/>
              </a:spcBef>
              <a:defRPr sz="1600" b="0">
                <a:solidFill>
                  <a:srgbClr val="B0BEC5"/>
                </a:solidFill>
              </a:defRPr>
            </a:pPr>
            <a:r>
              <a:t>  Data Lineage &amp; Search</a:t>
            </a:r>
          </a:p>
          <a:p>
            <a:pPr>
              <a:spcBef>
                <a:spcPts val="600"/>
              </a:spcBef>
              <a:defRPr sz="1600" b="0">
                <a:solidFill>
                  <a:srgbClr val="B0BEC5"/>
                </a:solidFill>
              </a:defRPr>
            </a:pPr>
            <a:r>
              <a:t>  Legacy Hive Metastore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AB47BC"/>
                </a:solidFill>
              </a:defRPr>
            </a:pPr>
            <a:r>
              <a:t>Part 2: Unity Catalog Security</a:t>
            </a:r>
          </a:p>
          <a:p>
            <a:pPr>
              <a:spcBef>
                <a:spcPts val="600"/>
              </a:spcBef>
              <a:defRPr sz="1600" b="0">
                <a:solidFill>
                  <a:srgbClr val="B0BEC5"/>
                </a:solidFill>
              </a:defRPr>
            </a:pPr>
            <a:r>
              <a:t>  Security Model Overview</a:t>
            </a:r>
          </a:p>
          <a:p>
            <a:pPr>
              <a:spcBef>
                <a:spcPts val="600"/>
              </a:spcBef>
              <a:defRPr sz="1600" b="0">
                <a:solidFill>
                  <a:srgbClr val="B0BEC5"/>
                </a:solidFill>
              </a:defRPr>
            </a:pPr>
            <a:r>
              <a:t>  Identities &amp; Identity Federation</a:t>
            </a:r>
          </a:p>
          <a:p>
            <a:pPr>
              <a:spcBef>
                <a:spcPts val="600"/>
              </a:spcBef>
              <a:defRPr sz="1600" b="0">
                <a:solidFill>
                  <a:srgbClr val="B0BEC5"/>
                </a:solidFill>
              </a:defRPr>
            </a:pPr>
            <a:r>
              <a:t>  Privileges &amp; Ownership</a:t>
            </a:r>
          </a:p>
          <a:p>
            <a:pPr>
              <a:spcBef>
                <a:spcPts val="600"/>
              </a:spcBef>
              <a:defRPr sz="1600" b="0">
                <a:solidFill>
                  <a:srgbClr val="B0BEC5"/>
                </a:solidFill>
              </a:defRPr>
            </a:pPr>
            <a:r>
              <a:t>  Row-Level Security</a:t>
            </a:r>
          </a:p>
          <a:p>
            <a:pPr>
              <a:spcBef>
                <a:spcPts val="600"/>
              </a:spcBef>
              <a:defRPr sz="1600" b="0">
                <a:solidFill>
                  <a:srgbClr val="B0BEC5"/>
                </a:solidFill>
              </a:defRPr>
            </a:pPr>
            <a:r>
              <a:t>  Column Masking</a:t>
            </a:r>
          </a:p>
          <a:p>
            <a:pPr>
              <a:spcBef>
                <a:spcPts val="600"/>
              </a:spcBef>
              <a:defRPr sz="1600" b="0">
                <a:solidFill>
                  <a:srgbClr val="B0BEC5"/>
                </a:solidFill>
              </a:defRPr>
            </a:pPr>
            <a:r>
              <a:t>  Storage Credentials &amp; External Locations</a:t>
            </a:r>
          </a:p>
          <a:p>
            <a:pPr>
              <a:spcBef>
                <a:spcPts val="600"/>
              </a:spcBef>
              <a:defRPr sz="1600" b="0">
                <a:solidFill>
                  <a:srgbClr val="B0BEC5"/>
                </a:solidFill>
              </a:defRPr>
            </a:pPr>
            <a:r>
              <a:t> 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is Unity Catalog?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9EF5"/>
                </a:solidFill>
              </a:defRPr>
            </a:pPr>
            <a:r>
              <a:t>A centralized governance solution for all data and AI assets across every workspace and cloud.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B0BEC5"/>
                </a:solidFill>
              </a:defRPr>
            </a:pPr>
            <a:r>
              <a:t>  Centralized governance -- define access rules ONCE, enforce EVERYWHERE</a:t>
            </a:r>
          </a:p>
          <a:p>
            <a:pPr>
              <a:spcBef>
                <a:spcPts val="800"/>
              </a:spcBef>
              <a:defRPr sz="1800">
                <a:solidFill>
                  <a:srgbClr val="B0BEC5"/>
                </a:solidFill>
              </a:defRPr>
            </a:pPr>
            <a:r>
              <a:t>  Unifies governance for tables, views, volumes, ML models, functions, dashboards</a:t>
            </a:r>
          </a:p>
          <a:p>
            <a:pPr>
              <a:spcBef>
                <a:spcPts val="800"/>
              </a:spcBef>
              <a:defRPr sz="1800">
                <a:solidFill>
                  <a:srgbClr val="B0BEC5"/>
                </a:solidFill>
              </a:defRPr>
            </a:pPr>
            <a:r>
              <a:t>  Account-level identity management (not workspace-scoped)</a:t>
            </a:r>
          </a:p>
          <a:p>
            <a:pPr>
              <a:spcBef>
                <a:spcPts val="800"/>
              </a:spcBef>
              <a:defRPr sz="1800">
                <a:solidFill>
                  <a:srgbClr val="B0BEC5"/>
                </a:solidFill>
              </a:defRPr>
            </a:pPr>
            <a:r>
              <a:t>  Automated lineage tracking across all asset types</a:t>
            </a:r>
          </a:p>
          <a:p>
            <a:pPr>
              <a:spcBef>
                <a:spcPts val="800"/>
              </a:spcBef>
              <a:defRPr sz="1800">
                <a:solidFill>
                  <a:srgbClr val="B0BEC5"/>
                </a:solidFill>
              </a:defRPr>
            </a:pPr>
            <a:r>
              <a:t>  Built-in data search and discovery</a:t>
            </a:r>
          </a:p>
          <a:p>
            <a:pPr>
              <a:spcBef>
                <a:spcPts val="800"/>
              </a:spcBef>
              <a:defRPr sz="1800">
                <a:solidFill>
                  <a:srgbClr val="B0BEC5"/>
                </a:solidFill>
              </a:defRPr>
            </a:pPr>
            <a:r>
              <a:t>  Full audit logging of all access and changes</a:t>
            </a:r>
          </a:p>
          <a:p>
            <a:pPr>
              <a:spcBef>
                <a:spcPts val="800"/>
              </a:spcBef>
              <a:defRPr sz="1800">
                <a:solidFill>
                  <a:srgbClr val="B0BEC5"/>
                </a:solidFill>
              </a:defRPr>
            </a:pPr>
            <a:r>
              <a:t>  No hard migration -- legacy hive_metastore remains accessible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Before vs After Unity Catalog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2D1515"/>
          </a:solidFill>
          <a:ln w="1905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3E3E"/>
                </a:solidFill>
              </a:defRPr>
            </a:pPr>
            <a:r>
              <a:t>Before: Hive Metastore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B0BEC5"/>
                </a:solidFill>
              </a:defRPr>
            </a:pPr>
            <a:r>
              <a:t>  Users &amp; groups per workspace</a:t>
            </a:r>
          </a:p>
          <a:p>
            <a:pPr>
              <a:spcBef>
                <a:spcPts val="600"/>
              </a:spcBef>
              <a:defRPr sz="1600">
                <a:solidFill>
                  <a:srgbClr val="B0BEC5"/>
                </a:solidFill>
              </a:defRPr>
            </a:pPr>
            <a:r>
              <a:t>  ACLs scoped to single workspace</a:t>
            </a:r>
          </a:p>
          <a:p>
            <a:pPr>
              <a:spcBef>
                <a:spcPts val="600"/>
              </a:spcBef>
              <a:defRPr sz="1600">
                <a:solidFill>
                  <a:srgbClr val="B0BEC5"/>
                </a:solidFill>
              </a:defRPr>
            </a:pPr>
            <a:r>
              <a:t>  No file governance (ANY FILE only)</a:t>
            </a:r>
          </a:p>
          <a:p>
            <a:pPr>
              <a:spcBef>
                <a:spcPts val="600"/>
              </a:spcBef>
              <a:defRPr sz="1600">
                <a:solidFill>
                  <a:srgbClr val="B0BEC5"/>
                </a:solidFill>
              </a:defRPr>
            </a:pPr>
            <a:r>
              <a:t>  No cross-workspace sharing</a:t>
            </a:r>
          </a:p>
          <a:p>
            <a:pPr>
              <a:spcBef>
                <a:spcPts val="600"/>
              </a:spcBef>
              <a:defRPr sz="1600">
                <a:solidFill>
                  <a:srgbClr val="B0BEC5"/>
                </a:solidFill>
              </a:defRPr>
            </a:pPr>
            <a:r>
              <a:t>  No automated lineage</a:t>
            </a:r>
          </a:p>
          <a:p>
            <a:pPr>
              <a:spcBef>
                <a:spcPts val="600"/>
              </a:spcBef>
              <a:defRPr sz="1600">
                <a:solidFill>
                  <a:srgbClr val="B0BEC5"/>
                </a:solidFill>
              </a:defRPr>
            </a:pPr>
            <a:r>
              <a:t>  No built-in search/discovery</a:t>
            </a:r>
          </a:p>
          <a:p>
            <a:pPr>
              <a:spcBef>
                <a:spcPts val="600"/>
              </a:spcBef>
              <a:defRPr sz="1600">
                <a:solidFill>
                  <a:srgbClr val="B0BEC5"/>
                </a:solidFill>
              </a:defRPr>
            </a:pPr>
            <a:r>
              <a:t>  Tables &amp; views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4754880"/>
          </a:xfrm>
          <a:prstGeom prst="roundRect">
            <a:avLst/>
          </a:prstGeom>
          <a:solidFill>
            <a:srgbClr val="152D1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</a:defRPr>
            </a:pPr>
            <a:r>
              <a:t>After: Unity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B0BEC5"/>
                </a:solidFill>
              </a:defRPr>
            </a:pPr>
            <a:r>
              <a:t>  Account-level identity federation</a:t>
            </a:r>
          </a:p>
          <a:p>
            <a:pPr>
              <a:spcBef>
                <a:spcPts val="600"/>
              </a:spcBef>
              <a:defRPr sz="1600">
                <a:solidFill>
                  <a:srgbClr val="B0BEC5"/>
                </a:solidFill>
              </a:defRPr>
            </a:pPr>
            <a:r>
              <a:t>  Cross-workspace, cross-cloud governance</a:t>
            </a:r>
          </a:p>
          <a:p>
            <a:pPr>
              <a:spcBef>
                <a:spcPts val="600"/>
              </a:spcBef>
              <a:defRPr sz="1600">
                <a:solidFill>
                  <a:srgbClr val="B0BEC5"/>
                </a:solidFill>
              </a:defRPr>
            </a:pPr>
            <a:r>
              <a:t>  Volumes for governed file access</a:t>
            </a:r>
          </a:p>
          <a:p>
            <a:pPr>
              <a:spcBef>
                <a:spcPts val="600"/>
              </a:spcBef>
              <a:defRPr sz="1600">
                <a:solidFill>
                  <a:srgbClr val="B0BEC5"/>
                </a:solidFill>
              </a:defRPr>
            </a:pPr>
            <a:r>
              <a:t>  Shared metastore across workspaces</a:t>
            </a:r>
          </a:p>
          <a:p>
            <a:pPr>
              <a:spcBef>
                <a:spcPts val="600"/>
              </a:spcBef>
              <a:defRPr sz="1600">
                <a:solidFill>
                  <a:srgbClr val="B0BEC5"/>
                </a:solidFill>
              </a:defRPr>
            </a:pPr>
            <a:r>
              <a:t>  Automated lineage for all assets</a:t>
            </a:r>
          </a:p>
          <a:p>
            <a:pPr>
              <a:spcBef>
                <a:spcPts val="600"/>
              </a:spcBef>
              <a:defRPr sz="1600">
                <a:solidFill>
                  <a:srgbClr val="B0BEC5"/>
                </a:solidFill>
              </a:defRPr>
            </a:pPr>
            <a:r>
              <a:t>  Built-in search and discovery</a:t>
            </a:r>
          </a:p>
          <a:p>
            <a:pPr>
              <a:spcBef>
                <a:spcPts val="600"/>
              </a:spcBef>
              <a:defRPr sz="1600">
                <a:solidFill>
                  <a:srgbClr val="B0BEC5"/>
                </a:solidFill>
              </a:defRPr>
            </a:pPr>
            <a:r>
              <a:t>  Tables, views, volumes, models, functions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3-Level Namespace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3E3E"/>
                </a:solidFill>
              </a:defRPr>
            </a:pPr>
            <a:r>
              <a:t>Hive Metastore (2-Level)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4572000" cy="54864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4CAF50"/>
                </a:solidFill>
                <a:latin typeface="Courier New"/>
              </a:defRPr>
            </a:pPr>
            <a:r>
              <a:t>SELECT * FROM schema.table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</a:defRPr>
            </a:pPr>
            <a:r>
              <a:t>Unity Catalog (3-Level)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5029200" cy="54864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4CAF50"/>
                </a:solidFill>
                <a:latin typeface="Courier New"/>
              </a:defRPr>
            </a:pPr>
            <a:r>
              <a:t>SELECT * FROM catalog.schema.table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560320"/>
            <a:ext cx="9144000" cy="384048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4CAF50"/>
                </a:solidFill>
                <a:latin typeface="Courier New"/>
              </a:defRPr>
            </a:pPr>
            <a:r>
              <a:t>Metastore (top-level container)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|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+-- Catalog: prod_catalog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|     +-- Schema: hr_db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|     |     +-- Table: employees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|     |     +-- View: active_employees_vw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|     |     +-- Volume: raw_files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|     |     +-- Function: mask_ssn()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|     +-- Schema: finance_db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|           +-- Table: transactions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|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+-- Catalog: dev_catalog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|     +-- Schema: sandbox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|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+-- Catalog: hive_metastore (legacy)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    +-- Schema: default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Metastore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20116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429EF5"/>
                </a:solidFill>
              </a:defRPr>
            </a:pPr>
            <a:r>
              <a:t>Regional</a:t>
            </a:r>
          </a:p>
          <a:p>
            <a:pPr algn="ctr">
              <a:spcBef>
                <a:spcPts val="1200"/>
              </a:spcBef>
              <a:defRPr sz="1400">
                <a:solidFill>
                  <a:srgbClr val="B0BEC5"/>
                </a:solidFill>
              </a:defRPr>
            </a:pPr>
            <a:r>
              <a:t>One metastore per cloud region (e.g., us-east-1)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474720" cy="20116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4CAF50"/>
                </a:solidFill>
              </a:defRPr>
            </a:pPr>
            <a:r>
              <a:t>Multi-Workspace</a:t>
            </a:r>
          </a:p>
          <a:p>
            <a:pPr algn="ctr">
              <a:spcBef>
                <a:spcPts val="1200"/>
              </a:spcBef>
              <a:defRPr sz="1400">
                <a:solidFill>
                  <a:srgbClr val="B0BEC5"/>
                </a:solidFill>
              </a:defRPr>
            </a:pPr>
            <a:r>
              <a:t>A single metastore assigned to multiple workspaces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474720" cy="20116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9800"/>
                </a:solidFill>
              </a:defRPr>
            </a:pPr>
            <a:r>
              <a:t>Shared View</a:t>
            </a:r>
          </a:p>
          <a:p>
            <a:pPr algn="ctr">
              <a:spcBef>
                <a:spcPts val="1200"/>
              </a:spcBef>
              <a:defRPr sz="1400">
                <a:solidFill>
                  <a:srgbClr val="B0BEC5"/>
                </a:solidFill>
              </a:defRPr>
            </a:pPr>
            <a:r>
              <a:t>All assigned workspaces see the same catalogs &amp;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3474720" cy="20116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AB47BC"/>
                </a:solidFill>
              </a:defRPr>
            </a:pPr>
            <a:r>
              <a:t>Managed Storage</a:t>
            </a:r>
          </a:p>
          <a:p>
            <a:pPr algn="ctr">
              <a:spcBef>
                <a:spcPts val="1200"/>
              </a:spcBef>
              <a:defRPr sz="1400">
                <a:solidFill>
                  <a:srgbClr val="B0BEC5"/>
                </a:solidFill>
              </a:defRPr>
            </a:pPr>
            <a:r>
              <a:t>S3/ADLS/GCS bucket for managed table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931920"/>
            <a:ext cx="3474720" cy="20116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83E3E"/>
                </a:solidFill>
              </a:defRPr>
            </a:pPr>
            <a:r>
              <a:t>Metadata + ACLs</a:t>
            </a:r>
          </a:p>
          <a:p>
            <a:pPr algn="ctr">
              <a:spcBef>
                <a:spcPts val="1200"/>
              </a:spcBef>
              <a:defRPr sz="1400">
                <a:solidFill>
                  <a:srgbClr val="B0BEC5"/>
                </a:solidFill>
              </a:defRPr>
            </a:pPr>
            <a:r>
              <a:t>Stores object definitions and access control lists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931920"/>
            <a:ext cx="3474720" cy="20116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429EF5"/>
                </a:solidFill>
              </a:defRPr>
            </a:pPr>
            <a:r>
              <a:t>Audit Trail</a:t>
            </a:r>
          </a:p>
          <a:p>
            <a:pPr algn="ctr">
              <a:spcBef>
                <a:spcPts val="1200"/>
              </a:spcBef>
              <a:defRPr sz="1400">
                <a:solidFill>
                  <a:srgbClr val="B0BEC5"/>
                </a:solidFill>
              </a:defRPr>
            </a:pPr>
            <a:r>
              <a:t>Full log of who accessed what, when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Managed Storage Hierarchy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201168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4CAF50"/>
                </a:solidFill>
                <a:latin typeface="Courier New"/>
              </a:defRPr>
            </a:pPr>
            <a:r>
              <a:t>Metastore Default Storage: s3://uc-metastore-bucket/</a:t>
            </a:r>
          </a:p>
          <a:p>
            <a:pPr>
              <a:defRPr sz="1600">
                <a:solidFill>
                  <a:srgbClr val="4CAF50"/>
                </a:solidFill>
                <a:latin typeface="Courier New"/>
              </a:defRPr>
            </a:pPr>
            <a:r>
              <a:t>  |</a:t>
            </a:r>
          </a:p>
          <a:p>
            <a:pPr>
              <a:defRPr sz="1600">
                <a:solidFill>
                  <a:srgbClr val="4CAF50"/>
                </a:solidFill>
                <a:latin typeface="Courier New"/>
              </a:defRPr>
            </a:pPr>
            <a:r>
              <a:t>  +-- Catalog-level override (optional)</a:t>
            </a:r>
          </a:p>
          <a:p>
            <a:pPr>
              <a:defRPr sz="1600">
                <a:solidFill>
                  <a:srgbClr val="4CAF50"/>
                </a:solidFill>
                <a:latin typeface="Courier New"/>
              </a:defRPr>
            </a:pPr>
            <a:r>
              <a:t>  |     s3://prod-catalog-bucket/</a:t>
            </a:r>
          </a:p>
          <a:p>
            <a:pPr>
              <a:defRPr sz="1600">
                <a:solidFill>
                  <a:srgbClr val="4CAF50"/>
                </a:solidFill>
                <a:latin typeface="Courier New"/>
              </a:defRPr>
            </a:pPr>
            <a:r>
              <a:t>  |</a:t>
            </a:r>
          </a:p>
          <a:p>
            <a:pPr>
              <a:defRPr sz="1600">
                <a:solidFill>
                  <a:srgbClr val="4CAF50"/>
                </a:solidFill>
                <a:latin typeface="Courier New"/>
              </a:defRPr>
            </a:pPr>
            <a:r>
              <a:t>  +-- Schema-level override (optional)</a:t>
            </a:r>
          </a:p>
          <a:p>
            <a:pPr>
              <a:defRPr sz="1600">
                <a:solidFill>
                  <a:srgbClr val="4CAF50"/>
                </a:solidFill>
                <a:latin typeface="Courier New"/>
              </a:defRPr>
            </a:pPr>
            <a:r>
              <a:t>        s3://hr-schema-bucket/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5303520" cy="25603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</a:defRPr>
            </a:pPr>
            <a:r>
              <a:t>Managed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500">
                <a:solidFill>
                  <a:srgbClr val="B0BEC5"/>
                </a:solidFill>
              </a:defRPr>
            </a:pPr>
            <a:r>
              <a:t>UC controls storage location</a:t>
            </a:r>
          </a:p>
          <a:p>
            <a:pPr>
              <a:spcBef>
                <a:spcPts val="400"/>
              </a:spcBef>
              <a:defRPr sz="1500">
                <a:solidFill>
                  <a:srgbClr val="B0BEC5"/>
                </a:solidFill>
              </a:defRPr>
            </a:pPr>
            <a:r>
              <a:t>DROP TABLE deletes data</a:t>
            </a:r>
          </a:p>
          <a:p>
            <a:pPr>
              <a:spcBef>
                <a:spcPts val="400"/>
              </a:spcBef>
              <a:defRPr sz="1500">
                <a:solidFill>
                  <a:srgbClr val="B0BEC5"/>
                </a:solidFill>
              </a:defRPr>
            </a:pPr>
            <a:r>
              <a:t>Users never see physical paths</a:t>
            </a:r>
          </a:p>
          <a:p>
            <a:pPr>
              <a:spcBef>
                <a:spcPts val="400"/>
              </a:spcBef>
              <a:defRPr sz="1500">
                <a:solidFill>
                  <a:srgbClr val="B0BEC5"/>
                </a:solidFill>
              </a:defRPr>
            </a:pPr>
            <a:r>
              <a:t>Default behavior in UC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840480"/>
            <a:ext cx="5303520" cy="25603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</a:defRPr>
            </a:pPr>
            <a:r>
              <a:t>External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4805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500">
                <a:solidFill>
                  <a:srgbClr val="B0BEC5"/>
                </a:solidFill>
              </a:defRPr>
            </a:pPr>
            <a:r>
              <a:t>You specify LOCATION to existing files</a:t>
            </a:r>
          </a:p>
          <a:p>
            <a:pPr>
              <a:spcBef>
                <a:spcPts val="400"/>
              </a:spcBef>
              <a:defRPr sz="1500">
                <a:solidFill>
                  <a:srgbClr val="B0BEC5"/>
                </a:solidFill>
              </a:defRPr>
            </a:pPr>
            <a:r>
              <a:t>DROP TABLE keeps data intact</a:t>
            </a:r>
          </a:p>
          <a:p>
            <a:pPr>
              <a:spcBef>
                <a:spcPts val="400"/>
              </a:spcBef>
              <a:defRPr sz="1500">
                <a:solidFill>
                  <a:srgbClr val="B0BEC5"/>
                </a:solidFill>
              </a:defRPr>
            </a:pPr>
            <a:r>
              <a:t>UC manages metadata &amp; access only</a:t>
            </a:r>
          </a:p>
          <a:p>
            <a:pPr>
              <a:spcBef>
                <a:spcPts val="400"/>
              </a:spcBef>
              <a:defRPr sz="1500">
                <a:solidFill>
                  <a:srgbClr val="B0BEC5"/>
                </a:solidFill>
              </a:defRPr>
            </a:pPr>
            <a:r>
              <a:t>Use for shared/existing data lakes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Unity Catalog Volumes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9EF5"/>
                </a:solidFill>
              </a:defRPr>
            </a:pPr>
            <a:r>
              <a:t>Governed access to non-tabular files: CSVs, images, JARs, model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320040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4CAF50"/>
                </a:solidFill>
                <a:latin typeface="Courier New"/>
              </a:defRPr>
            </a:pPr>
            <a:r>
              <a:t>-- Create a managed volume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CREATE VOLUME my_catalog.my_schema.raw_files;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-- List files in a volume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LIST '/Volumes/my_catalog/my_schema/raw_files/';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-- Read files directly from a volume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SELECT * FROM read_files(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'/Volumes/my_catalog/my_schema/raw_files/data.csv',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format =&gt; 'csv', header =&gt; 'true'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B0BEC5"/>
                </a:solidFill>
              </a:defRPr>
            </a:pPr>
            <a:r>
              <a:t>Same GRANT/REVOKE permission model as tables (READ VOLUME, WRITE VOLUME)</a:t>
            </a:r>
          </a:p>
          <a:p>
            <a:pPr>
              <a:spcBef>
                <a:spcPts val="400"/>
              </a:spcBef>
              <a:defRPr sz="1600">
                <a:solidFill>
                  <a:srgbClr val="B0BEC5"/>
                </a:solidFill>
              </a:defRPr>
            </a:pPr>
            <a:r>
              <a:t>Managed volumes = UC controls storage | External volumes = you point to existing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Automated Lineage &amp; Data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144000" cy="201168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4CAF50"/>
                </a:solidFill>
                <a:latin typeface="Courier New"/>
              </a:defRPr>
            </a:pPr>
            <a:r>
              <a:t>Source Table A ---+</a:t>
            </a:r>
          </a:p>
          <a:p>
            <a:pPr>
              <a:defRPr sz="1600">
                <a:solidFill>
                  <a:srgbClr val="4CAF50"/>
                </a:solidFill>
                <a:latin typeface="Courier New"/>
              </a:defRPr>
            </a:pPr>
            <a:r>
              <a:t>                  |---&gt; Silver Table ---&gt; Gold Table ---&gt; Dashboard</a:t>
            </a:r>
          </a:p>
          <a:p>
            <a:pPr>
              <a:defRPr sz="1600">
                <a:solidFill>
                  <a:srgbClr val="4CAF50"/>
                </a:solidFill>
                <a:latin typeface="Courier New"/>
              </a:defRPr>
            </a:pPr>
            <a:r>
              <a:t>Source Table B ---+         |</a:t>
            </a:r>
          </a:p>
          <a:p>
            <a:pPr>
              <a:defRPr sz="1600">
                <a:solidFill>
                  <a:srgbClr val="4CAF50"/>
                </a:solidFill>
                <a:latin typeface="Courier New"/>
              </a:defRPr>
            </a:pPr>
            <a:r>
              <a:t>                            v</a:t>
            </a:r>
          </a:p>
          <a:p>
            <a:pPr>
              <a:defRPr sz="1600">
                <a:solidFill>
                  <a:srgbClr val="4CAF50"/>
                </a:solidFill>
                <a:latin typeface="Courier New"/>
              </a:defRPr>
            </a:pPr>
            <a:r>
              <a:t>                       ML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</a:defRPr>
            </a:pPr>
            <a:r>
              <a:t>Automated Lineage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Tracks origin &amp; flow across tables, views, notebooks, jobs, dashboards, ML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</a:defRPr>
            </a:pPr>
            <a:r>
              <a:t>No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4389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Lineage captured automatically -- zero setup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</a:defRPr>
            </a:pPr>
            <a:r>
              <a:t>Data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5120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Discover tables, columns, descriptions through built-in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</a:defRPr>
            </a:pPr>
            <a:r>
              <a:t>Audit 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5852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Full trail of who accessed what, when -- compliance-ready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2: Unity Catalog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29EF5"/>
                </a:solidFill>
              </a:defRPr>
            </a:pPr>
            <a:r>
              <a:t>RBAC, Privileges, Row-Level Security, Column Masking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4572000"/>
            <a:ext cx="2103120" cy="54864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UC Security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502920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4CAF50"/>
                </a:solidFill>
                <a:latin typeface="Courier New"/>
              </a:defRPr>
            </a:pPr>
            <a:r>
              <a:t>GRANT  privilege  ON  securable_object  TO  principal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Principals (WHO):           Securable Objects (WHERE):     Privileges (WHAT):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+-------------------+      +------------------------+     +------------------+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| Users             |      | METASTORE              |     | SELECT           |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| Service Principals|      |   CATALOG              |     | MODIFY           |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| Groups            |      |     SCHEMA             |     | CREATE           |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+-------------------+      |       TABLE / VIEW     |     | USE CATALOG      |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                       |       VOLUME           |     | USE SCHEMA       |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                       |       FUNCTION / MODEL |     | READ/WRITE FILES |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                       | STORAGE CREDENTIAL     |     | READ/WRITE VOLUME|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                       | EXTERNAL LOCATION      |     | EXECUTE          |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                       | SHARE / RECIPIENT      |     | ALL PRIVILEGES   |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                       +------------------------+     +------------------+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Identities (Principals)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22860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429EF5"/>
                </a:solidFill>
              </a:defRPr>
            </a:pPr>
            <a:r>
              <a:t>Users</a:t>
            </a:r>
          </a:p>
          <a:p>
            <a:pPr algn="ctr"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Individual people identified by email address.</a:t>
            </a:r>
          </a:p>
          <a:p>
            <a:pPr algn="ctr"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Can be assigned admin roles.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474720" cy="22860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4CAF50"/>
                </a:solidFill>
              </a:defRPr>
            </a:pPr>
            <a:r>
              <a:t>Service Principals</a:t>
            </a:r>
          </a:p>
          <a:p>
            <a:pPr algn="ctr"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Automated identities for tools &amp; CI/CD.</a:t>
            </a:r>
          </a:p>
          <a:p>
            <a:pPr algn="ctr"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Identified by Application 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474720" cy="22860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9800"/>
                </a:solidFill>
              </a:defRPr>
            </a:pPr>
            <a:r>
              <a:t>Groups</a:t>
            </a:r>
          </a:p>
          <a:p>
            <a:pPr algn="ctr"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Collections of users &amp; service principals.</a:t>
            </a:r>
          </a:p>
          <a:p>
            <a:pPr algn="ctr"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Can be nested (groups within groups).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B47BC"/>
                </a:solidFill>
              </a:defRPr>
            </a:pPr>
            <a:r>
              <a:t>Identity Federation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B0BEC5"/>
                </a:solidFill>
              </a:defRPr>
            </a:pPr>
            <a:r>
              <a:t>Identities created ONCE at account level, then assigned to workspaces as needed</a:t>
            </a:r>
          </a:p>
          <a:p>
            <a:pPr>
              <a:spcBef>
                <a:spcPts val="400"/>
              </a:spcBef>
              <a:defRPr sz="1600">
                <a:solidFill>
                  <a:srgbClr val="B0BEC5"/>
                </a:solidFill>
              </a:defRPr>
            </a:pPr>
            <a:r>
              <a:t>No duplicate identity management -- single source of truth</a:t>
            </a:r>
          </a:p>
          <a:p>
            <a:pPr>
              <a:spcBef>
                <a:spcPts val="400"/>
              </a:spcBef>
              <a:defRPr sz="1600">
                <a:solidFill>
                  <a:srgbClr val="B0BEC5"/>
                </a:solidFill>
              </a:defRPr>
            </a:pPr>
            <a:r>
              <a:t>Managed through the Account Console (accounts.cloud.databricks.com)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Privilege Hierarchy &amp; Prerequisites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274320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4CAF50"/>
                </a:solidFill>
                <a:latin typeface="Courier New"/>
              </a:defRPr>
            </a:pPr>
            <a:r>
              <a:t>To SELECT from catalog.schema.table: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Step 1: GRANT USE CATALOG ON CATALOG prod_catalog TO analysts;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Step 2: GRANT USE SCHEMA ON SCHEMA prod_catalog.hr_db TO analysts;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Step 3: GRANT SELECT ON TABLE prod_catalog.hr_db.employees TO analysts;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USE CATALOG + USE SCHEMA = navigation rights (no data access)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SELECT = actual read access to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</a:defRPr>
            </a:pPr>
            <a:r>
              <a:t>Metastore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389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Can grant on: All objects in metastore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</a:defRPr>
            </a:pPr>
            <a:r>
              <a:t>Catalog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93775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Can grant on: All objects in that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</a:defRPr>
            </a:pPr>
            <a:r>
              <a:t>Schema 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486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Can grant on: All objects in that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</a:defRPr>
            </a:pPr>
            <a:r>
              <a:t>Table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035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Can grant on: That specific table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GRANT / REVOKE Syntax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530352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4CAF50"/>
                </a:solidFill>
                <a:latin typeface="Courier New"/>
              </a:defRPr>
            </a:pPr>
            <a:r>
              <a:t>-- Grant read access to a group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GRANT USE CATALOG ON CATALOG prod_catalog TO analysts;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GRANT USE SCHEMA ON SCHEMA prod_catalog.hr_db TO analysts;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GRANT SELECT ON TABLE prod_catalog.hr_db.employees TO analysts;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-- Grant multiple privileges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GRANT SELECT, MODIFY ON SCHEMA hr_db TO data_engineers;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-- Grant to individual user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GRANT SELECT ON VIEW hr_db.active_vw TO `analyst@company.com`;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-- Revoke privileges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REVOKE SELECT ON TABLE employees FROM analysts;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REVOKE ALL PRIVILEGES ON TABLE employees FROM data_engineers;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-- View grants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SHOW GRANTS ON TABLE employees;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SHOW GRANTS ON SCHEMA hr_db;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SHOW GRANTS `analyst@company.com`;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Row-Level Security with Dynamic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9EF5"/>
                </a:solidFill>
              </a:defRPr>
            </a:pPr>
            <a:r>
              <a:t>Filter rows based on the calling user's group membership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47120" cy="475488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4CAF50"/>
                </a:solidFill>
                <a:latin typeface="Courier New"/>
              </a:defRPr>
            </a:pPr>
            <a:r>
              <a:t>CREATE OR REPLACE VIEW secure_employees_vw AS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SELECT employee_id, first_name, last_name, email, department, salary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FROM employees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WHERE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CASE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WHEN is_account_group_member('admins') THEN true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WHEN is_account_group_member('engineering')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     AND department = 'Engineering' THEN true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WHEN is_account_group_member('marketing')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     AND department = 'Marketing' THEN true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WHEN is_account_group_member('finance')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     AND department = 'Finance' THEN true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ELSE false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END;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-- Grant on VIEW (not the underlying table)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GRANT SELECT ON VIEW secure_employees_vw TO analysts;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Column Masking with Dynamic 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530352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4CAF50"/>
                </a:solidFill>
                <a:latin typeface="Courier New"/>
              </a:defRPr>
            </a:pPr>
            <a:r>
              <a:t>CREATE OR REPLACE VIEW masked_employees_vw AS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SELECT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employee_id, first_name, last_name,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-- Email: visible to HR/admins, masked for others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CASE WHEN is_account_group_member('hr')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     OR is_account_group_member('admins')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THEN email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ELSE concat(left(email, 2), '***@***')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END AS email,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-- SSN: last 4 digits only for HR, fully masked for others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CASE WHEN is_account_group_member('hr')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THEN ssn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ELSE concat('***-**-', right(ssn, 4))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END AS ssn,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-- Salary: visible to finance/HR/admins only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CASE WHEN is_account_group_member('finance')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     OR is_account_group_member('hr')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THEN salary  ELSE NULL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END AS salary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FROM employees;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Column Visibility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54864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Column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2011680" cy="54864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HR Group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2011680" cy="54864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Finance Group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9" y="1645920"/>
            <a:ext cx="2011680" cy="54864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45920"/>
            <a:ext cx="2011680" cy="54864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201168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286000"/>
            <a:ext cx="2011680" cy="457200"/>
          </a:xfrm>
          <a:prstGeom prst="roundRect">
            <a:avLst/>
          </a:prstGeom>
          <a:solidFill>
            <a:srgbClr val="2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4CAF50"/>
                </a:solidFill>
              </a:defRPr>
            </a:pPr>
            <a:r>
              <a:t>Full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286000"/>
            <a:ext cx="2011680" cy="457200"/>
          </a:xfrm>
          <a:prstGeom prst="roundRect">
            <a:avLst/>
          </a:prstGeom>
          <a:solidFill>
            <a:srgbClr val="4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E83E3E"/>
                </a:solidFill>
              </a:defRPr>
            </a:pPr>
            <a:r>
              <a:t>Masked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199" y="2286000"/>
            <a:ext cx="2011680" cy="457200"/>
          </a:xfrm>
          <a:prstGeom prst="roundRect">
            <a:avLst/>
          </a:prstGeom>
          <a:solidFill>
            <a:srgbClr val="4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E83E3E"/>
                </a:solidFill>
              </a:defRPr>
            </a:pPr>
            <a:r>
              <a:t>Masked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2286000"/>
            <a:ext cx="2011680" cy="457200"/>
          </a:xfrm>
          <a:prstGeom prst="roundRect">
            <a:avLst/>
          </a:prstGeom>
          <a:solidFill>
            <a:srgbClr val="2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4CAF50"/>
                </a:solidFill>
              </a:defRPr>
            </a:pPr>
            <a:r>
              <a:t>Full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201168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ssn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2834640"/>
            <a:ext cx="2011680" cy="457200"/>
          </a:xfrm>
          <a:prstGeom prst="roundRect">
            <a:avLst/>
          </a:prstGeom>
          <a:solidFill>
            <a:srgbClr val="2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4CAF50"/>
                </a:solidFill>
              </a:defRPr>
            </a:pPr>
            <a:r>
              <a:t>Full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834640"/>
            <a:ext cx="2011680" cy="457200"/>
          </a:xfrm>
          <a:prstGeom prst="roundRect">
            <a:avLst/>
          </a:prstGeom>
          <a:solidFill>
            <a:srgbClr val="4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E83E3E"/>
                </a:solidFill>
              </a:defRPr>
            </a:pPr>
            <a:r>
              <a:t>Masked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199" y="2834640"/>
            <a:ext cx="2011680" cy="457200"/>
          </a:xfrm>
          <a:prstGeom prst="roundRect">
            <a:avLst/>
          </a:prstGeom>
          <a:solidFill>
            <a:srgbClr val="4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E83E3E"/>
                </a:solidFill>
              </a:defRPr>
            </a:pPr>
            <a:r>
              <a:t>Masked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834640"/>
            <a:ext cx="2011680" cy="457200"/>
          </a:xfrm>
          <a:prstGeom prst="roundRect">
            <a:avLst/>
          </a:prstGeom>
          <a:solidFill>
            <a:srgbClr val="2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4CAF50"/>
                </a:solidFill>
              </a:defRPr>
            </a:pPr>
            <a:r>
              <a:t>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83280"/>
            <a:ext cx="201168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salary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3383280"/>
            <a:ext cx="2011680" cy="457200"/>
          </a:xfrm>
          <a:prstGeom prst="roundRect">
            <a:avLst/>
          </a:prstGeom>
          <a:solidFill>
            <a:srgbClr val="2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4CAF50"/>
                </a:solidFill>
              </a:defRPr>
            </a:pPr>
            <a:r>
              <a:t>Full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3383280"/>
            <a:ext cx="2011680" cy="457200"/>
          </a:xfrm>
          <a:prstGeom prst="roundRect">
            <a:avLst/>
          </a:prstGeom>
          <a:solidFill>
            <a:srgbClr val="2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4CAF50"/>
                </a:solidFill>
              </a:defRPr>
            </a:pPr>
            <a:r>
              <a:t>Full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199" y="3383280"/>
            <a:ext cx="2011680" cy="457200"/>
          </a:xfrm>
          <a:prstGeom prst="roundRect">
            <a:avLst/>
          </a:prstGeom>
          <a:solidFill>
            <a:srgbClr val="4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E83E3E"/>
                </a:solidFill>
              </a:defRPr>
            </a:pPr>
            <a:r>
              <a:t>NULL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3383280"/>
            <a:ext cx="2011680" cy="457200"/>
          </a:xfrm>
          <a:prstGeom prst="roundRect">
            <a:avLst/>
          </a:prstGeom>
          <a:solidFill>
            <a:srgbClr val="2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4CAF50"/>
                </a:solidFill>
              </a:defRPr>
            </a:pPr>
            <a:r>
              <a:t>Full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31920"/>
            <a:ext cx="201168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first_name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3931920"/>
            <a:ext cx="2011680" cy="457200"/>
          </a:xfrm>
          <a:prstGeom prst="roundRect">
            <a:avLst/>
          </a:prstGeom>
          <a:solidFill>
            <a:srgbClr val="2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4CAF50"/>
                </a:solidFill>
              </a:defRPr>
            </a:pPr>
            <a:r>
              <a:t>Full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3931920"/>
            <a:ext cx="2011680" cy="457200"/>
          </a:xfrm>
          <a:prstGeom prst="roundRect">
            <a:avLst/>
          </a:prstGeom>
          <a:solidFill>
            <a:srgbClr val="2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4CAF50"/>
                </a:solidFill>
              </a:defRPr>
            </a:pPr>
            <a:r>
              <a:t>Full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199" y="3931920"/>
            <a:ext cx="2011680" cy="457200"/>
          </a:xfrm>
          <a:prstGeom prst="roundRect">
            <a:avLst/>
          </a:prstGeom>
          <a:solidFill>
            <a:srgbClr val="2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4CAF50"/>
                </a:solidFill>
              </a:defRPr>
            </a:pPr>
            <a:r>
              <a:t>Full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3931920"/>
            <a:ext cx="2011680" cy="457200"/>
          </a:xfrm>
          <a:prstGeom prst="roundRect">
            <a:avLst/>
          </a:prstGeom>
          <a:solidFill>
            <a:srgbClr val="2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4CAF50"/>
                </a:solidFill>
              </a:defRPr>
            </a:pPr>
            <a:r>
              <a:t>Full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480560"/>
            <a:ext cx="201168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4480560"/>
            <a:ext cx="2011680" cy="457200"/>
          </a:xfrm>
          <a:prstGeom prst="roundRect">
            <a:avLst/>
          </a:prstGeom>
          <a:solidFill>
            <a:srgbClr val="2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4CAF50"/>
                </a:solidFill>
              </a:defRPr>
            </a:pPr>
            <a:r>
              <a:t>Full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4480560"/>
            <a:ext cx="2011680" cy="457200"/>
          </a:xfrm>
          <a:prstGeom prst="roundRect">
            <a:avLst/>
          </a:prstGeom>
          <a:solidFill>
            <a:srgbClr val="2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4CAF50"/>
                </a:solidFill>
              </a:defRPr>
            </a:pPr>
            <a:r>
              <a:t>Full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199" y="4480560"/>
            <a:ext cx="2011680" cy="457200"/>
          </a:xfrm>
          <a:prstGeom prst="roundRect">
            <a:avLst/>
          </a:prstGeom>
          <a:solidFill>
            <a:srgbClr val="2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4CAF50"/>
                </a:solidFill>
              </a:defRPr>
            </a:pPr>
            <a:r>
              <a:t>Full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60" y="4480560"/>
            <a:ext cx="2011680" cy="457200"/>
          </a:xfrm>
          <a:prstGeom prst="roundRect">
            <a:avLst/>
          </a:prstGeom>
          <a:solidFill>
            <a:srgbClr val="2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4CAF50"/>
                </a:solidFill>
              </a:defRPr>
            </a:pPr>
            <a:r>
              <a:t>Full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</a:defRPr>
            </a:pPr>
            <a:r>
              <a:t>Pattern: Grant SELECT on the VIEW, not on the underlying TABLE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Storage Credentials &amp; External Locations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347472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4CAF50"/>
                </a:solidFill>
                <a:latin typeface="Courier New"/>
              </a:defRPr>
            </a:pPr>
            <a:r>
              <a:t>-- Storage Credential: authentication to cloud storage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CREATE STORAGE CREDENTIAL my_s3_cred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WITH (AWS_IAM_ROLE = 'arn:aws:iam::123456789:role/uc-role');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-- External Location: maps credential to a specific path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CREATE EXTERNAL LOCATION my_raw_data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URL 's3://my-bucket/raw-data/'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WITH (STORAGE CREDENTIAL my_s3_cred);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-- Grant file access through external locations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GRANT READ FILES ON EXTERNAL LOCATION my_raw_data TO data_engineers;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GRANT WRITE FILES ON EXTERNAL LOCATION my_raw_data TO data_engineers;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029200"/>
            <a:ext cx="9144000" cy="137160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4CAF50"/>
                </a:solidFill>
                <a:latin typeface="Courier New"/>
              </a:defRPr>
            </a:pPr>
            <a:r>
              <a:t>Storage Credential (IAM Role / Managed Identity / Service Account)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+-- External Location 1: s3://bucket/raw/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+-- External Location 2: s3://bucket/curated/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+-- External Location 3: s3://bucket/archive/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Security: Hive Metastore vs Unity Catalog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926080" cy="50292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Aspect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188720"/>
            <a:ext cx="4023360" cy="50292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Hive Metastore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188720"/>
            <a:ext cx="4114800" cy="50292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Unity Catalog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55648"/>
            <a:ext cx="292608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B0BEC5"/>
                </a:solidFill>
              </a:defRPr>
            </a:pPr>
            <a:r>
              <a:t>Identity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755648"/>
            <a:ext cx="402336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3E3E"/>
                </a:solidFill>
              </a:defRPr>
            </a:pPr>
            <a:r>
              <a:t>Workspace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755648"/>
            <a:ext cx="411480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4CAF50"/>
                </a:solidFill>
              </a:defRPr>
            </a:pPr>
            <a:r>
              <a:t>Account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22576"/>
            <a:ext cx="292608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B0BEC5"/>
                </a:solidFill>
              </a:defRPr>
            </a:pPr>
            <a:r>
              <a:t>Identity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322576"/>
            <a:ext cx="402336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3E3E"/>
                </a:solidFill>
              </a:defRPr>
            </a:pPr>
            <a:r>
              <a:t>Users, groups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322576"/>
            <a:ext cx="411480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4CAF50"/>
                </a:solidFill>
              </a:defRPr>
            </a:pPr>
            <a:r>
              <a:t>Users, SPs, groups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89504"/>
            <a:ext cx="292608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B0BEC5"/>
                </a:solidFill>
              </a:defRPr>
            </a:pPr>
            <a:r>
              <a:t>Securable objects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889504"/>
            <a:ext cx="402336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3E3E"/>
                </a:solidFill>
              </a:defRPr>
            </a:pPr>
            <a:r>
              <a:t>Catalog, schema, table,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889504"/>
            <a:ext cx="411480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4CAF50"/>
                </a:solidFill>
              </a:defRPr>
            </a:pPr>
            <a:r>
              <a:t>All + volumes, models, locations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56432"/>
            <a:ext cx="292608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B0BEC5"/>
                </a:solidFill>
              </a:defRPr>
            </a:pPr>
            <a:r>
              <a:t>Prerequisites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456432"/>
            <a:ext cx="402336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3E3E"/>
                </a:solidFill>
              </a:defRPr>
            </a:pPr>
            <a:r>
              <a:t>USAGE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3456432"/>
            <a:ext cx="411480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4CAF50"/>
                </a:solidFill>
              </a:defRPr>
            </a:pPr>
            <a:r>
              <a:t>USE CATALOG + USE SCHEMA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23360"/>
            <a:ext cx="292608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B0BEC5"/>
                </a:solidFill>
              </a:defRPr>
            </a:pPr>
            <a:r>
              <a:t>File governance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4023360"/>
            <a:ext cx="402336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3E3E"/>
                </a:solidFill>
              </a:defRPr>
            </a:pPr>
            <a:r>
              <a:t>ANY FILE (all or nothing)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4023360"/>
            <a:ext cx="411480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4CAF50"/>
                </a:solidFill>
              </a:defRPr>
            </a:pPr>
            <a:r>
              <a:t>Per external location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90288"/>
            <a:ext cx="292608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B0BEC5"/>
                </a:solidFill>
              </a:defRPr>
            </a:pPr>
            <a:r>
              <a:t>Row security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4590288"/>
            <a:ext cx="402336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3E3E"/>
                </a:solidFill>
              </a:defRPr>
            </a:pPr>
            <a:r>
              <a:t>Dynamic views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4590288"/>
            <a:ext cx="411480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4CAF50"/>
                </a:solidFill>
              </a:defRPr>
            </a:pPr>
            <a:r>
              <a:t>Dynamic views + group functions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57216"/>
            <a:ext cx="292608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B0BEC5"/>
                </a:solidFill>
              </a:defRPr>
            </a:pPr>
            <a:r>
              <a:t>Audit logging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5157216"/>
            <a:ext cx="402336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3E3E"/>
                </a:solidFill>
              </a:defRPr>
            </a:pPr>
            <a:r>
              <a:t>Limited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5157216"/>
            <a:ext cx="411480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4CAF50"/>
                </a:solidFill>
              </a:defRPr>
            </a:pPr>
            <a:r>
              <a:t>Full audit trail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724144"/>
            <a:ext cx="292608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B0BEC5"/>
                </a:solidFill>
              </a:defRPr>
            </a:pPr>
            <a:r>
              <a:t>Cross-workspace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5724144"/>
            <a:ext cx="402336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3E3E"/>
                </a:solidFill>
              </a:defRPr>
            </a:pPr>
            <a:r>
              <a:t>Not possible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5724144"/>
            <a:ext cx="4114800" cy="50292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4CAF50"/>
                </a:solidFill>
              </a:defRPr>
            </a:pPr>
            <a:r>
              <a:t>Built-in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Security Best Practices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73152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CAF50"/>
                </a:solidFill>
              </a:defRPr>
            </a:pPr>
            <a:r>
              <a:t>Use groups, not individuals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1887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Assign privileges to groups for maintainability and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38528"/>
            <a:ext cx="73152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CAF50"/>
                </a:solidFill>
              </a:defRPr>
            </a:pPr>
            <a:r>
              <a:t>Least privilege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93852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Grant only the minimum privileges needed for the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88336"/>
            <a:ext cx="73152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8833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CAF50"/>
                </a:solidFill>
              </a:defRPr>
            </a:pPr>
            <a:r>
              <a:t>Views for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88336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Use dynamic views for row/column security -- never expose base tables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38144"/>
            <a:ext cx="73152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3814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CAF50"/>
                </a:solidFill>
              </a:defRPr>
            </a:pPr>
            <a:r>
              <a:t>Group 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438144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Assign table ownership to groups, not individual 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87952"/>
            <a:ext cx="73152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8795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CAF50"/>
                </a:solidFill>
              </a:defRPr>
            </a:pPr>
            <a:r>
              <a:t>Separate catalogs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18795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dev_catalog / staging_catalog / prod_catalog for environment isolation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937759"/>
            <a:ext cx="73152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3775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CAF50"/>
                </a:solidFill>
              </a:defRPr>
            </a:pPr>
            <a:r>
              <a:t>External locations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937759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Govern cloud storage through UC, not raw IAM alone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687568"/>
            <a:ext cx="73152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8756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CAF50"/>
                </a:solidFill>
              </a:defRPr>
            </a:pPr>
            <a:r>
              <a:t>Regular audits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68756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Review SHOW GRANTS and system audit logs periodically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Certification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9EF5"/>
                </a:solidFill>
              </a:defRPr>
            </a:pPr>
            <a:r>
              <a:t>Databricks Certified Data Engineer Associate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1700">
                <a:solidFill>
                  <a:srgbClr val="B0BEC5"/>
                </a:solidFill>
              </a:defRPr>
            </a:pPr>
            <a:r>
              <a:t>  3-level namespace: catalog.schema.table</a:t>
            </a:r>
          </a:p>
          <a:p>
            <a:pPr>
              <a:spcBef>
                <a:spcPts val="800"/>
              </a:spcBef>
              <a:defRPr sz="1700">
                <a:solidFill>
                  <a:srgbClr val="B0BEC5"/>
                </a:solidFill>
              </a:defRPr>
            </a:pPr>
            <a:r>
              <a:t>  Difference between UC metastore and Hive Metastore</a:t>
            </a:r>
          </a:p>
          <a:p>
            <a:pPr>
              <a:spcBef>
                <a:spcPts val="800"/>
              </a:spcBef>
              <a:defRPr sz="1700">
                <a:solidFill>
                  <a:srgbClr val="B0BEC5"/>
                </a:solidFill>
              </a:defRPr>
            </a:pPr>
            <a:r>
              <a:t>  Managed vs external tables -- lifecycle and storage behavior</a:t>
            </a:r>
          </a:p>
          <a:p>
            <a:pPr>
              <a:spcBef>
                <a:spcPts val="800"/>
              </a:spcBef>
              <a:defRPr sz="1700">
                <a:solidFill>
                  <a:srgbClr val="B0BEC5"/>
                </a:solidFill>
              </a:defRPr>
            </a:pPr>
            <a:r>
              <a:t>  GRANT/REVOKE syntax and behavior</a:t>
            </a:r>
          </a:p>
          <a:p>
            <a:pPr>
              <a:spcBef>
                <a:spcPts val="800"/>
              </a:spcBef>
              <a:defRPr sz="1700">
                <a:solidFill>
                  <a:srgbClr val="B0BEC5"/>
                </a:solidFill>
              </a:defRPr>
            </a:pPr>
            <a:r>
              <a:t>  USE CATALOG and USE SCHEMA as prerequisite privileges</a:t>
            </a:r>
          </a:p>
          <a:p>
            <a:pPr>
              <a:spcBef>
                <a:spcPts val="800"/>
              </a:spcBef>
              <a:defRPr sz="1700">
                <a:solidFill>
                  <a:srgbClr val="B0BEC5"/>
                </a:solidFill>
              </a:defRPr>
            </a:pPr>
            <a:r>
              <a:t>  Ownership and who can grant (metastore admin &gt; catalog owner &gt; schema owner)</a:t>
            </a:r>
          </a:p>
          <a:p>
            <a:pPr>
              <a:spcBef>
                <a:spcPts val="800"/>
              </a:spcBef>
              <a:defRPr sz="1700">
                <a:solidFill>
                  <a:srgbClr val="B0BEC5"/>
                </a:solidFill>
              </a:defRPr>
            </a:pPr>
            <a:r>
              <a:t>  is_account_group_member() for dynamic views</a:t>
            </a:r>
          </a:p>
          <a:p>
            <a:pPr>
              <a:spcBef>
                <a:spcPts val="800"/>
              </a:spcBef>
              <a:defRPr sz="1700">
                <a:solidFill>
                  <a:srgbClr val="B0BEC5"/>
                </a:solidFill>
              </a:defRPr>
            </a:pPr>
            <a:r>
              <a:t>  Identity federation: account-level vs workspace-level</a:t>
            </a:r>
          </a:p>
          <a:p>
            <a:pPr>
              <a:spcBef>
                <a:spcPts val="800"/>
              </a:spcBef>
              <a:defRPr sz="1700">
                <a:solidFill>
                  <a:srgbClr val="B0BEC5"/>
                </a:solidFill>
              </a:defRPr>
            </a:pPr>
            <a:r>
              <a:t>  Storage credentials and external locations</a:t>
            </a:r>
          </a:p>
          <a:p>
            <a:pPr>
              <a:spcBef>
                <a:spcPts val="800"/>
              </a:spcBef>
              <a:defRPr sz="1700">
                <a:solidFill>
                  <a:srgbClr val="B0BEC5"/>
                </a:solidFill>
              </a:defRPr>
            </a:pPr>
            <a:r>
              <a:t>  Volumes for governed file access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4572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Unity Catalog replaces workspace-scoped Hive Metastore with account-level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56232"/>
            <a:ext cx="4572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562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3-level namespace (catalog.schema.table) adds catalogs as the top organizational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23744"/>
            <a:ext cx="4572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2374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Metastores are regional and can be shared across multiple workspaces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91256"/>
            <a:ext cx="4572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912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GRANT/REVOKE with USE CATALOG + USE SCHEMA prerequisites control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58768"/>
            <a:ext cx="4572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587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Dynamic views implement row-level security and column masking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26280"/>
            <a:ext cx="4572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26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Storage credentials + external locations govern cloud storage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93792"/>
            <a:ext cx="4572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1937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Volumes extend governance to non-tabular files (CSVs, images, JARs)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61303"/>
            <a:ext cx="4572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861303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Legacy hive_metastore remains accessible -- no hard migration required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29EF5"/>
                </a:solidFill>
              </a:defRPr>
            </a:pPr>
            <a:r>
              <a:t>Next: Day 12 -- Managed vs External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4389120"/>
            <a:ext cx="2103120" cy="54864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</a:defRPr>
            </a:pPr>
            <a:r>
              <a:t>Spark Databricks Zero-to-Pro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